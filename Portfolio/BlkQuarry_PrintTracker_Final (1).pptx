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0" name="Google Shape;40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7" name="Google Shape;48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2" name="Google Shape;52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5" name="Google Shape;55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EEF3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F2F3F6"/>
          </a:solidFill>
          <a:ln cap="flat" cmpd="sng" w="12700">
            <a:solidFill>
              <a:srgbClr val="F2F3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365760" y="118872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BA0"/>
              </a:buClr>
              <a:buSzPts val="900"/>
              <a:buFont typeface="Trebuchet MS"/>
              <a:buNone/>
            </a:pPr>
            <a:r>
              <a:rPr b="0" i="0" lang="en-US" sz="900" u="none" cap="none" strike="noStrike">
                <a:solidFill>
                  <a:srgbClr val="888BA0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3108960" y="118872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BA0"/>
              </a:buClr>
              <a:buSzPts val="900"/>
              <a:buFont typeface="Trebuchet MS"/>
              <a:buNone/>
            </a:pPr>
            <a:r>
              <a:rPr b="0" i="0" lang="en-US" sz="900" u="none" cap="none" strike="noStrike">
                <a:solidFill>
                  <a:srgbClr val="888BA0"/>
                </a:solidFill>
                <a:latin typeface="Trebuchet MS"/>
                <a:ea typeface="Trebuchet MS"/>
                <a:cs typeface="Trebuchet MS"/>
                <a:sym typeface="Trebuchet MS"/>
              </a:rPr>
              <a:t>Customised for 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590288" y="82296"/>
            <a:ext cx="2560320" cy="256032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7955280" y="118872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BA0"/>
              </a:buClr>
              <a:buSzPts val="900"/>
              <a:buFont typeface="Trebuchet MS"/>
              <a:buNone/>
            </a:pPr>
            <a:r>
              <a:rPr b="0" i="0" lang="en-US" sz="900" u="none" cap="none" strike="noStrike">
                <a:solidFill>
                  <a:srgbClr val="888BA0"/>
                </a:solidFill>
                <a:latin typeface="Trebuchet MS"/>
                <a:ea typeface="Trebuchet MS"/>
                <a:cs typeface="Trebuchet MS"/>
                <a:sym typeface="Trebuchet MS"/>
              </a:rPr>
              <a:t>Version 1.0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02920" y="749808"/>
            <a:ext cx="960120" cy="43891"/>
          </a:xfrm>
          <a:prstGeom prst="rect">
            <a:avLst/>
          </a:prstGeom>
          <a:solidFill>
            <a:srgbClr val="0A0F4F"/>
          </a:solidFill>
          <a:ln cap="flat" cmpd="sng" w="12700">
            <a:solidFill>
              <a:srgbClr val="0A0F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1463040" y="749808"/>
            <a:ext cx="438912" cy="43891"/>
          </a:xfrm>
          <a:prstGeom prst="rect">
            <a:avLst/>
          </a:prstGeom>
          <a:solidFill>
            <a:srgbClr val="1A2AD4"/>
          </a:solidFill>
          <a:ln cap="flat" cmpd="sng" w="12700">
            <a:solidFill>
              <a:srgbClr val="1A2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502920" y="877824"/>
            <a:ext cx="7315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5200"/>
              <a:buFont typeface="Trebuchet MS"/>
              <a:buNone/>
            </a:pPr>
            <a:r>
              <a:rPr b="1" i="0" lang="en-US" sz="520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Print Job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5200"/>
              <a:buFont typeface="Trebuchet MS"/>
              <a:buNone/>
            </a:pPr>
            <a:r>
              <a:rPr b="1" i="0" lang="en-US" sz="520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Tracking System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502920" y="2798064"/>
            <a:ext cx="1417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BA0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888BA0"/>
                </a:solidFill>
                <a:latin typeface="Trebuchet MS"/>
                <a:ea typeface="Trebuchet MS"/>
                <a:cs typeface="Trebuchet MS"/>
                <a:sym typeface="Trebuchet MS"/>
              </a:rPr>
              <a:t>Delivered for 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1938528" y="2798064"/>
            <a:ext cx="3108960" cy="256032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502920" y="3145536"/>
            <a:ext cx="6400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BA0"/>
              </a:buClr>
              <a:buSzPts val="1100"/>
              <a:buFont typeface="Trebuchet MS"/>
              <a:buNone/>
            </a:pPr>
            <a:r>
              <a:rPr b="0" i="0" lang="en-US" sz="1100" u="none" cap="none" strike="noStrike">
                <a:solidFill>
                  <a:srgbClr val="888BA0"/>
                </a:solidFill>
                <a:latin typeface="Trebuchet MS"/>
                <a:ea typeface="Trebuchet MS"/>
                <a:cs typeface="Trebuchet MS"/>
                <a:sym typeface="Trebuchet MS"/>
              </a:rPr>
              <a:t>Print Sales Division, South Africa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" name="Google Shape;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493008"/>
            <a:ext cx="9144000" cy="1650492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3"/>
          <p:cNvSpPr/>
          <p:nvPr/>
        </p:nvSpPr>
        <p:spPr>
          <a:xfrm>
            <a:off x="0" y="3493008"/>
            <a:ext cx="9144000" cy="1650492"/>
          </a:xfrm>
          <a:prstGeom prst="rect">
            <a:avLst/>
          </a:prstGeom>
          <a:solidFill>
            <a:srgbClr val="1C1E2E">
              <a:alpha val="65098"/>
            </a:srgbClr>
          </a:solidFill>
          <a:ln cap="flat" cmpd="sng" w="12700">
            <a:solidFill>
              <a:srgbClr val="1C1E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7360920" y="4736592"/>
            <a:ext cx="1554480" cy="237744"/>
          </a:xfrm>
          <a:prstGeom prst="rect">
            <a:avLst/>
          </a:prstGeom>
          <a:solidFill>
            <a:srgbClr val="0A0F4F"/>
          </a:solidFill>
          <a:ln cap="flat" cmpd="sng" w="12700">
            <a:solidFill>
              <a:srgbClr val="0A0F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7360920" y="4736592"/>
            <a:ext cx="1554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Trebuchet MS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NDA — CONFIDENTIAL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F2F3F6"/>
          </a:solidFill>
          <a:ln cap="flat" cmpd="sng" w="12700">
            <a:solidFill>
              <a:srgbClr val="F2F3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502920" y="658368"/>
            <a:ext cx="960120" cy="43891"/>
          </a:xfrm>
          <a:prstGeom prst="rect">
            <a:avLst/>
          </a:prstGeom>
          <a:solidFill>
            <a:srgbClr val="0A0F4F"/>
          </a:solidFill>
          <a:ln cap="flat" cmpd="sng" w="12700">
            <a:solidFill>
              <a:srgbClr val="0A0F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1463040" y="658368"/>
            <a:ext cx="438912" cy="43891"/>
          </a:xfrm>
          <a:prstGeom prst="rect">
            <a:avLst/>
          </a:prstGeom>
          <a:solidFill>
            <a:srgbClr val="1A2AD4"/>
          </a:solidFill>
          <a:ln cap="flat" cmpd="sng" w="12700">
            <a:solidFill>
              <a:srgbClr val="1A2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502920" y="749808"/>
            <a:ext cx="7315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Confidentiality Notice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" name="Google Shape;40;p4"/>
          <p:cNvCxnSpPr/>
          <p:nvPr/>
        </p:nvCxnSpPr>
        <p:spPr>
          <a:xfrm>
            <a:off x="502920" y="4919472"/>
            <a:ext cx="8138160" cy="0"/>
          </a:xfrm>
          <a:prstGeom prst="straightConnector1">
            <a:avLst/>
          </a:prstGeom>
          <a:noFill/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4"/>
          <p:cNvSpPr/>
          <p:nvPr/>
        </p:nvSpPr>
        <p:spPr>
          <a:xfrm>
            <a:off x="502920" y="4946904"/>
            <a:ext cx="4572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BA0"/>
              </a:buClr>
              <a:buSzPts val="750"/>
              <a:buFont typeface="Trebuchet MS"/>
              <a:buNone/>
            </a:pPr>
            <a:r>
              <a:rPr b="0" i="0" lang="en-US" sz="750" u="none" cap="none" strike="noStrike">
                <a:solidFill>
                  <a:srgbClr val="888BA0"/>
                </a:solidFill>
                <a:latin typeface="Trebuchet MS"/>
                <a:ea typeface="Trebuchet MS"/>
                <a:cs typeface="Trebuchet MS"/>
                <a:sym typeface="Trebuchet MS"/>
              </a:rPr>
              <a:t>BlkQuarry — Confidential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6492240" y="4946904"/>
            <a:ext cx="2148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BA0"/>
              </a:buClr>
              <a:buSzPts val="750"/>
              <a:buFont typeface="Trebuchet MS"/>
              <a:buNone/>
            </a:pPr>
            <a:r>
              <a:rPr b="0" i="0" lang="en-US" sz="750" u="none" cap="none" strike="noStrike">
                <a:solidFill>
                  <a:srgbClr val="888BA0"/>
                </a:solidFill>
                <a:latin typeface="Trebuchet MS"/>
                <a:ea typeface="Trebuchet MS"/>
                <a:cs typeface="Trebuchet MS"/>
                <a:sym typeface="Trebuchet MS"/>
              </a:rPr>
              <a:t>blkquarry.com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502920" y="1444752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BA0"/>
              </a:buClr>
              <a:buSzPts val="1100"/>
              <a:buFont typeface="Trebuchet MS"/>
              <a:buNone/>
            </a:pPr>
            <a:r>
              <a:rPr b="0" i="1" lang="en-US" sz="1100" u="none" cap="none" strike="noStrike">
                <a:solidFill>
                  <a:srgbClr val="888BA0"/>
                </a:solidFill>
                <a:latin typeface="Trebuchet MS"/>
                <a:ea typeface="Trebuchet MS"/>
                <a:cs typeface="Trebuchet MS"/>
                <a:sym typeface="Trebuchet MS"/>
              </a:rPr>
              <a:t>This document has been prepared under a Non-Disclosure Agreement signed between BlkQuarry and the client. All client-identifying information has been redacted and is indicated by a solid black bar.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502920" y="2084832"/>
            <a:ext cx="2651760" cy="2468880"/>
          </a:xfrm>
          <a:prstGeom prst="rect">
            <a:avLst/>
          </a:prstGeom>
          <a:solidFill>
            <a:srgbClr val="F2F3F6"/>
          </a:solidFill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502920" y="2084832"/>
            <a:ext cx="2651760" cy="36576"/>
          </a:xfrm>
          <a:prstGeom prst="rect">
            <a:avLst/>
          </a:prstGeom>
          <a:solidFill>
            <a:srgbClr val="0A0F4F"/>
          </a:solidFill>
          <a:ln cap="flat" cmpd="sng" w="12700">
            <a:solidFill>
              <a:srgbClr val="0A0F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630936" y="2194560"/>
            <a:ext cx="347472" cy="347472"/>
          </a:xfrm>
          <a:prstGeom prst="ellipse">
            <a:avLst/>
          </a:prstGeom>
          <a:solidFill>
            <a:srgbClr val="0A0F4F"/>
          </a:solidFill>
          <a:ln cap="flat" cmpd="sng" w="12700">
            <a:solidFill>
              <a:srgbClr val="0A0F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630936" y="2203704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1069848" y="2194560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F4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0A0F4F"/>
                </a:solidFill>
                <a:latin typeface="Trebuchet MS"/>
                <a:ea typeface="Trebuchet MS"/>
                <a:cs typeface="Trebuchet MS"/>
                <a:sym typeface="Trebuchet MS"/>
              </a:rPr>
              <a:t>Client Identity Withheld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" name="Google Shape;49;p4"/>
          <p:cNvCxnSpPr/>
          <p:nvPr/>
        </p:nvCxnSpPr>
        <p:spPr>
          <a:xfrm>
            <a:off x="630936" y="2578608"/>
            <a:ext cx="2395728" cy="0"/>
          </a:xfrm>
          <a:prstGeom prst="straightConnector1">
            <a:avLst/>
          </a:prstGeom>
          <a:noFill/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" name="Google Shape;50;p4"/>
          <p:cNvSpPr/>
          <p:nvPr/>
        </p:nvSpPr>
        <p:spPr>
          <a:xfrm>
            <a:off x="630936" y="2651760"/>
            <a:ext cx="2395728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900"/>
              <a:buFont typeface="Trebuchet MS"/>
              <a:buNone/>
            </a:pPr>
            <a:r>
              <a:rPr b="0" i="0" lang="en-US" sz="90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The client's company name, personnel names, pricing, and commercially sensitive operational data have been redacted from all materials.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3337560" y="2084832"/>
            <a:ext cx="2651760" cy="2468880"/>
          </a:xfrm>
          <a:prstGeom prst="rect">
            <a:avLst/>
          </a:prstGeom>
          <a:solidFill>
            <a:srgbClr val="F2F3F6"/>
          </a:solidFill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3337560" y="2084832"/>
            <a:ext cx="2651760" cy="36576"/>
          </a:xfrm>
          <a:prstGeom prst="rect">
            <a:avLst/>
          </a:prstGeom>
          <a:solidFill>
            <a:srgbClr val="0A0F4F"/>
          </a:solidFill>
          <a:ln cap="flat" cmpd="sng" w="12700">
            <a:solidFill>
              <a:srgbClr val="0A0F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3465576" y="2194560"/>
            <a:ext cx="347472" cy="347472"/>
          </a:xfrm>
          <a:prstGeom prst="ellipse">
            <a:avLst/>
          </a:prstGeom>
          <a:solidFill>
            <a:srgbClr val="0A0F4F"/>
          </a:solidFill>
          <a:ln cap="flat" cmpd="sng" w="12700">
            <a:solidFill>
              <a:srgbClr val="0A0F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3465576" y="2203704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3904488" y="2194560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F4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0A0F4F"/>
                </a:solidFill>
                <a:latin typeface="Trebuchet MS"/>
                <a:ea typeface="Trebuchet MS"/>
                <a:cs typeface="Trebuchet MS"/>
                <a:sym typeface="Trebuchet MS"/>
              </a:rPr>
              <a:t>Portfolio Use Only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" name="Google Shape;56;p4"/>
          <p:cNvCxnSpPr/>
          <p:nvPr/>
        </p:nvCxnSpPr>
        <p:spPr>
          <a:xfrm>
            <a:off x="3465576" y="2578608"/>
            <a:ext cx="2395728" cy="0"/>
          </a:xfrm>
          <a:prstGeom prst="straightConnector1">
            <a:avLst/>
          </a:prstGeom>
          <a:noFill/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" name="Google Shape;57;p4"/>
          <p:cNvSpPr/>
          <p:nvPr/>
        </p:nvSpPr>
        <p:spPr>
          <a:xfrm>
            <a:off x="3465576" y="2651760"/>
            <a:ext cx="2395728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900"/>
              <a:buFont typeface="Trebuchet MS"/>
              <a:buNone/>
            </a:pPr>
            <a:r>
              <a:rPr b="0" i="0" lang="en-US" sz="90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Technical methodology, process mapping, swimlane diagrams, risk register, and delivery outcomes are documented here for portfolio purposes only.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6172200" y="2084832"/>
            <a:ext cx="2651760" cy="2468880"/>
          </a:xfrm>
          <a:prstGeom prst="rect">
            <a:avLst/>
          </a:prstGeom>
          <a:solidFill>
            <a:srgbClr val="F2F3F6"/>
          </a:solidFill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6172200" y="2084832"/>
            <a:ext cx="2651760" cy="36576"/>
          </a:xfrm>
          <a:prstGeom prst="rect">
            <a:avLst/>
          </a:prstGeom>
          <a:solidFill>
            <a:srgbClr val="0A0F4F"/>
          </a:solidFill>
          <a:ln cap="flat" cmpd="sng" w="12700">
            <a:solidFill>
              <a:srgbClr val="0A0F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6300216" y="2194560"/>
            <a:ext cx="347472" cy="347472"/>
          </a:xfrm>
          <a:prstGeom prst="ellipse">
            <a:avLst/>
          </a:prstGeom>
          <a:solidFill>
            <a:srgbClr val="0A0F4F"/>
          </a:solidFill>
          <a:ln cap="flat" cmpd="sng" w="12700">
            <a:solidFill>
              <a:srgbClr val="0A0F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6300216" y="2203704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6739128" y="2194560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F4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0A0F4F"/>
                </a:solidFill>
                <a:latin typeface="Trebuchet MS"/>
                <a:ea typeface="Trebuchet MS"/>
                <a:cs typeface="Trebuchet MS"/>
                <a:sym typeface="Trebuchet MS"/>
              </a:rPr>
              <a:t>BlkQuarry Standard Practice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" name="Google Shape;63;p4"/>
          <p:cNvCxnSpPr/>
          <p:nvPr/>
        </p:nvCxnSpPr>
        <p:spPr>
          <a:xfrm>
            <a:off x="6300216" y="2578608"/>
            <a:ext cx="2395728" cy="0"/>
          </a:xfrm>
          <a:prstGeom prst="straightConnector1">
            <a:avLst/>
          </a:prstGeom>
          <a:noFill/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" name="Google Shape;64;p4"/>
          <p:cNvSpPr/>
          <p:nvPr/>
        </p:nvSpPr>
        <p:spPr>
          <a:xfrm>
            <a:off x="6300216" y="2651760"/>
            <a:ext cx="2395728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900"/>
              <a:buFont typeface="Trebuchet MS"/>
              <a:buNone/>
            </a:pPr>
            <a:r>
              <a:rPr b="0" i="0" lang="en-US" sz="90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BlkQuarry operates under NDA as standard practice for all engagements involving proprietary business data. Full documentation available to verified parties on request.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F2F3F6"/>
          </a:solidFill>
          <a:ln cap="flat" cmpd="sng" w="12700">
            <a:solidFill>
              <a:srgbClr val="F2F3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502920" y="658368"/>
            <a:ext cx="960120" cy="43891"/>
          </a:xfrm>
          <a:prstGeom prst="rect">
            <a:avLst/>
          </a:prstGeom>
          <a:solidFill>
            <a:srgbClr val="0A0F4F"/>
          </a:solidFill>
          <a:ln cap="flat" cmpd="sng" w="12700">
            <a:solidFill>
              <a:srgbClr val="0A0F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1463040" y="658368"/>
            <a:ext cx="438912" cy="43891"/>
          </a:xfrm>
          <a:prstGeom prst="rect">
            <a:avLst/>
          </a:prstGeom>
          <a:solidFill>
            <a:srgbClr val="1A2AD4"/>
          </a:solidFill>
          <a:ln cap="flat" cmpd="sng" w="12700">
            <a:solidFill>
              <a:srgbClr val="1A2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502920" y="749808"/>
            <a:ext cx="7315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Engagement Overview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502920" y="1444752"/>
            <a:ext cx="8138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1200"/>
              <a:buFont typeface="Trebuchet MS"/>
              <a:buNone/>
            </a:pPr>
            <a:r>
              <a:rPr b="0" i="0" lang="en-US" sz="120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BlkQuarry was engaged by a Key Account Manager in the print sales division of a major South African print group to design and deliver a centralised job tracking web application for her team of six. The client had no existing system for tracking jobs across staff</a:t>
            </a:r>
            <a:r>
              <a:rPr lang="en-US" sz="1200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,</a:t>
            </a:r>
            <a:r>
              <a:rPr b="0" i="0" lang="en-US" sz="120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 status, invoicing, approvals, and production stages were all managed manually with no access control between users.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" name="Google Shape;75;p5"/>
          <p:cNvCxnSpPr/>
          <p:nvPr/>
        </p:nvCxnSpPr>
        <p:spPr>
          <a:xfrm>
            <a:off x="502920" y="2414016"/>
            <a:ext cx="8138160" cy="0"/>
          </a:xfrm>
          <a:prstGeom prst="straightConnector1">
            <a:avLst/>
          </a:prstGeom>
          <a:noFill/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" name="Google Shape;76;p5"/>
          <p:cNvSpPr/>
          <p:nvPr/>
        </p:nvSpPr>
        <p:spPr>
          <a:xfrm>
            <a:off x="502920" y="2523744"/>
            <a:ext cx="2651760" cy="2286000"/>
          </a:xfrm>
          <a:prstGeom prst="rect">
            <a:avLst/>
          </a:prstGeom>
          <a:solidFill>
            <a:srgbClr val="F2F3F6"/>
          </a:solidFill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502920" y="2523744"/>
            <a:ext cx="2651760" cy="36576"/>
          </a:xfrm>
          <a:prstGeom prst="rect">
            <a:avLst/>
          </a:prstGeom>
          <a:solidFill>
            <a:srgbClr val="1A2AD4"/>
          </a:solidFill>
          <a:ln cap="flat" cmpd="sng" w="12700">
            <a:solidFill>
              <a:srgbClr val="1A2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630936" y="2633472"/>
            <a:ext cx="23957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D4"/>
              </a:buClr>
              <a:buSzPts val="750"/>
              <a:buFont typeface="Trebuchet MS"/>
              <a:buNone/>
            </a:pPr>
            <a:r>
              <a:rPr b="1" i="0" lang="en-US" sz="750" u="none" cap="none" strike="noStrike">
                <a:solidFill>
                  <a:srgbClr val="1A2AD4"/>
                </a:solidFill>
                <a:latin typeface="Trebuchet MS"/>
                <a:ea typeface="Trebuchet MS"/>
                <a:cs typeface="Trebuchet MS"/>
                <a:sym typeface="Trebuchet MS"/>
              </a:rPr>
              <a:t>THE PROBLEM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" name="Google Shape;79;p5"/>
          <p:cNvCxnSpPr/>
          <p:nvPr/>
        </p:nvCxnSpPr>
        <p:spPr>
          <a:xfrm>
            <a:off x="630936" y="2871216"/>
            <a:ext cx="2395728" cy="0"/>
          </a:xfrm>
          <a:prstGeom prst="straightConnector1">
            <a:avLst/>
          </a:prstGeom>
          <a:noFill/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" name="Google Shape;80;p5"/>
          <p:cNvSpPr/>
          <p:nvPr/>
        </p:nvSpPr>
        <p:spPr>
          <a:xfrm>
            <a:off x="630936" y="2944368"/>
            <a:ext cx="2395728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950"/>
              <a:buFont typeface="Trebuchet MS"/>
              <a:buNone/>
            </a:pPr>
            <a:r>
              <a:rPr b="0" i="0" lang="en-US" sz="95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No centralised system to track jobs across 5 sales staff. Status, invoice visibility, and stage tracking managed manually. Staff could see each other's jobs with no data separation.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3337560" y="2523744"/>
            <a:ext cx="2651760" cy="2286000"/>
          </a:xfrm>
          <a:prstGeom prst="rect">
            <a:avLst/>
          </a:prstGeom>
          <a:solidFill>
            <a:srgbClr val="F2F3F6"/>
          </a:solidFill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3337560" y="2523744"/>
            <a:ext cx="2651760" cy="36576"/>
          </a:xfrm>
          <a:prstGeom prst="rect">
            <a:avLst/>
          </a:prstGeom>
          <a:solidFill>
            <a:srgbClr val="1A2AD4"/>
          </a:solidFill>
          <a:ln cap="flat" cmpd="sng" w="12700">
            <a:solidFill>
              <a:srgbClr val="1A2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3465576" y="2633472"/>
            <a:ext cx="23957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D4"/>
              </a:buClr>
              <a:buSzPts val="750"/>
              <a:buFont typeface="Trebuchet MS"/>
              <a:buNone/>
            </a:pPr>
            <a:r>
              <a:rPr b="1" i="0" lang="en-US" sz="750" u="none" cap="none" strike="noStrike">
                <a:solidFill>
                  <a:srgbClr val="1A2AD4"/>
                </a:solidFill>
                <a:latin typeface="Trebuchet MS"/>
                <a:ea typeface="Trebuchet MS"/>
                <a:cs typeface="Trebuchet MS"/>
                <a:sym typeface="Trebuchet MS"/>
              </a:rPr>
              <a:t>THE SOLUTION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" name="Google Shape;84;p5"/>
          <p:cNvCxnSpPr/>
          <p:nvPr/>
        </p:nvCxnSpPr>
        <p:spPr>
          <a:xfrm>
            <a:off x="3465576" y="2871216"/>
            <a:ext cx="2395728" cy="0"/>
          </a:xfrm>
          <a:prstGeom prst="straightConnector1">
            <a:avLst/>
          </a:prstGeom>
          <a:noFill/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" name="Google Shape;85;p5"/>
          <p:cNvSpPr/>
          <p:nvPr/>
        </p:nvSpPr>
        <p:spPr>
          <a:xfrm>
            <a:off x="3465576" y="2944368"/>
            <a:ext cx="2395728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950"/>
              <a:buFont typeface="Trebuchet MS"/>
              <a:buNone/>
            </a:pPr>
            <a:r>
              <a:rPr b="0" i="0" lang="en-US" sz="95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Web application with individual logins, spreadsheet-driven intake form, 5-stage production pipeline with live status selectors, and role-based job visibility per user.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6172200" y="2523744"/>
            <a:ext cx="2651760" cy="2286000"/>
          </a:xfrm>
          <a:prstGeom prst="rect">
            <a:avLst/>
          </a:prstGeom>
          <a:solidFill>
            <a:srgbClr val="F2F3F6"/>
          </a:solidFill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6172200" y="2523744"/>
            <a:ext cx="2651760" cy="36576"/>
          </a:xfrm>
          <a:prstGeom prst="rect">
            <a:avLst/>
          </a:prstGeom>
          <a:solidFill>
            <a:srgbClr val="1A2AD4"/>
          </a:solidFill>
          <a:ln cap="flat" cmpd="sng" w="12700">
            <a:solidFill>
              <a:srgbClr val="1A2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6300216" y="2633472"/>
            <a:ext cx="23957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D4"/>
              </a:buClr>
              <a:buSzPts val="750"/>
              <a:buFont typeface="Trebuchet MS"/>
              <a:buNone/>
            </a:pPr>
            <a:r>
              <a:rPr b="1" i="0" lang="en-US" sz="750" u="none" cap="none" strike="noStrike">
                <a:solidFill>
                  <a:srgbClr val="1A2AD4"/>
                </a:solidFill>
                <a:latin typeface="Trebuchet MS"/>
                <a:ea typeface="Trebuchet MS"/>
                <a:cs typeface="Trebuchet MS"/>
                <a:sym typeface="Trebuchet MS"/>
              </a:rPr>
              <a:t>THE OUTCOME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" name="Google Shape;89;p5"/>
          <p:cNvCxnSpPr/>
          <p:nvPr/>
        </p:nvCxnSpPr>
        <p:spPr>
          <a:xfrm>
            <a:off x="6300216" y="2871216"/>
            <a:ext cx="2395728" cy="0"/>
          </a:xfrm>
          <a:prstGeom prst="straightConnector1">
            <a:avLst/>
          </a:prstGeom>
          <a:noFill/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5"/>
          <p:cNvSpPr/>
          <p:nvPr/>
        </p:nvSpPr>
        <p:spPr>
          <a:xfrm>
            <a:off x="6300216" y="2944368"/>
            <a:ext cx="2395728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950"/>
              <a:buFont typeface="Trebuchet MS"/>
              <a:buNone/>
            </a:pPr>
            <a:r>
              <a:rPr b="0" i="0" lang="en-US" sz="95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KAM gained full pipeline visibility across all 6 users. Each sales person sees only their own jobs. Manual status tracking eliminated. Full audit trail in place.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F2F3F6"/>
          </a:solidFill>
          <a:ln cap="flat" cmpd="sng" w="12700">
            <a:solidFill>
              <a:srgbClr val="F2F3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502920" y="658368"/>
            <a:ext cx="960120" cy="43891"/>
          </a:xfrm>
          <a:prstGeom prst="rect">
            <a:avLst/>
          </a:prstGeom>
          <a:solidFill>
            <a:srgbClr val="0A0F4F"/>
          </a:solidFill>
          <a:ln cap="flat" cmpd="sng" w="12700">
            <a:solidFill>
              <a:srgbClr val="0A0F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1463040" y="658368"/>
            <a:ext cx="438912" cy="43891"/>
          </a:xfrm>
          <a:prstGeom prst="rect">
            <a:avLst/>
          </a:prstGeom>
          <a:solidFill>
            <a:srgbClr val="1A2AD4"/>
          </a:solidFill>
          <a:ln cap="flat" cmpd="sng" w="12700">
            <a:solidFill>
              <a:srgbClr val="1A2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502920" y="749808"/>
            <a:ext cx="7315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Problems to Solve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" name="Google Shape;100;p6"/>
          <p:cNvCxnSpPr/>
          <p:nvPr/>
        </p:nvCxnSpPr>
        <p:spPr>
          <a:xfrm>
            <a:off x="502920" y="4919472"/>
            <a:ext cx="8138160" cy="0"/>
          </a:xfrm>
          <a:prstGeom prst="straightConnector1">
            <a:avLst/>
          </a:prstGeom>
          <a:noFill/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" name="Google Shape;101;p6"/>
          <p:cNvSpPr/>
          <p:nvPr/>
        </p:nvSpPr>
        <p:spPr>
          <a:xfrm>
            <a:off x="502920" y="4946904"/>
            <a:ext cx="4572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BA0"/>
              </a:buClr>
              <a:buSzPts val="750"/>
              <a:buFont typeface="Trebuchet MS"/>
              <a:buNone/>
            </a:pPr>
            <a:r>
              <a:rPr b="0" i="0" lang="en-US" sz="750" u="none" cap="none" strike="noStrike">
                <a:solidFill>
                  <a:srgbClr val="888BA0"/>
                </a:solidFill>
                <a:latin typeface="Trebuchet MS"/>
                <a:ea typeface="Trebuchet MS"/>
                <a:cs typeface="Trebuchet MS"/>
                <a:sym typeface="Trebuchet MS"/>
              </a:rPr>
              <a:t>BlkQuarry — Confidential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6492240" y="4946904"/>
            <a:ext cx="2148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BA0"/>
              </a:buClr>
              <a:buSzPts val="750"/>
              <a:buFont typeface="Trebuchet MS"/>
              <a:buNone/>
            </a:pPr>
            <a:r>
              <a:rPr b="0" i="0" lang="en-US" sz="750" u="none" cap="none" strike="noStrike">
                <a:solidFill>
                  <a:srgbClr val="888BA0"/>
                </a:solidFill>
                <a:latin typeface="Trebuchet MS"/>
                <a:ea typeface="Trebuchet MS"/>
                <a:cs typeface="Trebuchet MS"/>
                <a:sym typeface="Trebuchet MS"/>
              </a:rPr>
              <a:t>blkquarry.com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502920" y="1508760"/>
            <a:ext cx="384048" cy="384048"/>
          </a:xfrm>
          <a:prstGeom prst="ellipse">
            <a:avLst/>
          </a:prstGeom>
          <a:solidFill>
            <a:srgbClr val="0A0F4F"/>
          </a:solidFill>
          <a:ln cap="flat" cmpd="sng" w="12700">
            <a:solidFill>
              <a:srgbClr val="0A0F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502920" y="151790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1051560" y="1508760"/>
            <a:ext cx="393192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No centralised job tracking</a:t>
            </a:r>
            <a:r>
              <a:rPr lang="en-US" sz="1050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,</a:t>
            </a:r>
            <a:r>
              <a:rPr b="0" i="0" lang="en-US" sz="105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 the KAM had no single view of where all jobs were across her team of 5 sales staff at any given time.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6" name="Google Shape;106;p6"/>
          <p:cNvCxnSpPr/>
          <p:nvPr/>
        </p:nvCxnSpPr>
        <p:spPr>
          <a:xfrm>
            <a:off x="4663440" y="1463040"/>
            <a:ext cx="0" cy="1389888"/>
          </a:xfrm>
          <a:prstGeom prst="straightConnector1">
            <a:avLst/>
          </a:prstGeom>
          <a:noFill/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" name="Google Shape;107;p6"/>
          <p:cNvSpPr/>
          <p:nvPr/>
        </p:nvSpPr>
        <p:spPr>
          <a:xfrm>
            <a:off x="4846320" y="1508760"/>
            <a:ext cx="384048" cy="384048"/>
          </a:xfrm>
          <a:prstGeom prst="ellipse">
            <a:avLst/>
          </a:prstGeom>
          <a:solidFill>
            <a:srgbClr val="0A0F4F"/>
          </a:solidFill>
          <a:ln cap="flat" cmpd="sng" w="12700">
            <a:solidFill>
              <a:srgbClr val="0A0F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4846320" y="151790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5394960" y="1508760"/>
            <a:ext cx="393192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No data separation</a:t>
            </a:r>
            <a:r>
              <a:rPr lang="en-US" sz="1050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,</a:t>
            </a:r>
            <a:r>
              <a:rPr b="0" i="0" lang="en-US" sz="105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 staff could see each other's clients, jobs, and invoice details. No access control existed between users.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" name="Google Shape;110;p6"/>
          <p:cNvCxnSpPr/>
          <p:nvPr/>
        </p:nvCxnSpPr>
        <p:spPr>
          <a:xfrm>
            <a:off x="502920" y="2907792"/>
            <a:ext cx="8138160" cy="0"/>
          </a:xfrm>
          <a:prstGeom prst="straightConnector1">
            <a:avLst/>
          </a:prstGeom>
          <a:noFill/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" name="Google Shape;111;p6"/>
          <p:cNvSpPr/>
          <p:nvPr/>
        </p:nvSpPr>
        <p:spPr>
          <a:xfrm>
            <a:off x="502920" y="3017520"/>
            <a:ext cx="384048" cy="384048"/>
          </a:xfrm>
          <a:prstGeom prst="ellipse">
            <a:avLst/>
          </a:prstGeom>
          <a:solidFill>
            <a:srgbClr val="0A0F4F"/>
          </a:solidFill>
          <a:ln cap="flat" cmpd="sng" w="12700">
            <a:solidFill>
              <a:srgbClr val="0A0F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502920" y="302666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1051560" y="3017520"/>
            <a:ext cx="393192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Inconsistent data entry</a:t>
            </a:r>
            <a:r>
              <a:rPr lang="en-US" sz="1050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,</a:t>
            </a:r>
            <a:r>
              <a:rPr b="0" i="0" lang="en-US" sz="105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 jobs were added in different formats with no standardised fields, making reporting and review unreliable.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" name="Google Shape;114;p6"/>
          <p:cNvCxnSpPr/>
          <p:nvPr/>
        </p:nvCxnSpPr>
        <p:spPr>
          <a:xfrm>
            <a:off x="4663440" y="2971800"/>
            <a:ext cx="0" cy="1389888"/>
          </a:xfrm>
          <a:prstGeom prst="straightConnector1">
            <a:avLst/>
          </a:prstGeom>
          <a:noFill/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" name="Google Shape;115;p6"/>
          <p:cNvSpPr/>
          <p:nvPr/>
        </p:nvSpPr>
        <p:spPr>
          <a:xfrm>
            <a:off x="4846320" y="3017520"/>
            <a:ext cx="384048" cy="384048"/>
          </a:xfrm>
          <a:prstGeom prst="ellipse">
            <a:avLst/>
          </a:prstGeom>
          <a:solidFill>
            <a:srgbClr val="0A0F4F"/>
          </a:solidFill>
          <a:ln cap="flat" cmpd="sng" w="12700">
            <a:solidFill>
              <a:srgbClr val="0A0F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4846320" y="302666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5394960" y="3017520"/>
            <a:ext cx="393192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1050"/>
              <a:buFont typeface="Trebuchet MS"/>
              <a:buNone/>
            </a:pPr>
            <a:r>
              <a:rPr b="0" i="0" lang="en-US" sz="105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No stage visibility</a:t>
            </a:r>
            <a:r>
              <a:rPr lang="en-US" sz="1050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,</a:t>
            </a:r>
            <a:r>
              <a:rPr b="0" i="0" lang="en-US" sz="105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 invoice status, client approval, and production status tracked in separate places with no unified pipeline view.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D3142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3A3F58"/>
          </a:solidFill>
          <a:ln cap="flat" cmpd="sng" w="12700">
            <a:solidFill>
              <a:srgbClr val="3A3F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502920" y="658368"/>
            <a:ext cx="960120" cy="43891"/>
          </a:xfrm>
          <a:prstGeom prst="rect">
            <a:avLst/>
          </a:prstGeom>
          <a:solidFill>
            <a:srgbClr val="0A0F4F"/>
          </a:solidFill>
          <a:ln cap="flat" cmpd="sng" w="12700">
            <a:solidFill>
              <a:srgbClr val="0A0F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1463040" y="658368"/>
            <a:ext cx="438912" cy="43891"/>
          </a:xfrm>
          <a:prstGeom prst="rect">
            <a:avLst/>
          </a:prstGeom>
          <a:solidFill>
            <a:srgbClr val="1A2AD4"/>
          </a:solidFill>
          <a:ln cap="flat" cmpd="sng" w="12700">
            <a:solidFill>
              <a:srgbClr val="1A2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502920" y="749808"/>
            <a:ext cx="7315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Objective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" name="Google Shape;127;p7"/>
          <p:cNvCxnSpPr/>
          <p:nvPr/>
        </p:nvCxnSpPr>
        <p:spPr>
          <a:xfrm>
            <a:off x="502920" y="4919472"/>
            <a:ext cx="8138160" cy="0"/>
          </a:xfrm>
          <a:prstGeom prst="straightConnector1">
            <a:avLst/>
          </a:prstGeom>
          <a:noFill/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7"/>
          <p:cNvSpPr/>
          <p:nvPr/>
        </p:nvSpPr>
        <p:spPr>
          <a:xfrm>
            <a:off x="502920" y="4946904"/>
            <a:ext cx="4572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BA0"/>
              </a:buClr>
              <a:buSzPts val="750"/>
              <a:buFont typeface="Trebuchet MS"/>
              <a:buNone/>
            </a:pPr>
            <a:r>
              <a:rPr b="0" i="0" lang="en-US" sz="750" u="none" cap="none" strike="noStrike">
                <a:solidFill>
                  <a:srgbClr val="888BA0"/>
                </a:solidFill>
                <a:latin typeface="Trebuchet MS"/>
                <a:ea typeface="Trebuchet MS"/>
                <a:cs typeface="Trebuchet MS"/>
                <a:sym typeface="Trebuchet MS"/>
              </a:rPr>
              <a:t>BlkQuarry — Confidential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6492240" y="4946904"/>
            <a:ext cx="2148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BA0"/>
              </a:buClr>
              <a:buSzPts val="750"/>
              <a:buFont typeface="Trebuchet MS"/>
              <a:buNone/>
            </a:pPr>
            <a:r>
              <a:rPr b="0" i="0" lang="en-US" sz="750" u="none" cap="none" strike="noStrike">
                <a:solidFill>
                  <a:srgbClr val="888BA0"/>
                </a:solidFill>
                <a:latin typeface="Trebuchet MS"/>
                <a:ea typeface="Trebuchet MS"/>
                <a:cs typeface="Trebuchet MS"/>
                <a:sym typeface="Trebuchet MS"/>
              </a:rPr>
              <a:t>blkquarry.com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502920" y="1572768"/>
            <a:ext cx="813816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Design and deliver a web-based job tracking system that gives the Key Account Manager full pipeline visibility across her team, enforces data separation through login-based access control, and standardises job intake</a:t>
            </a:r>
            <a:r>
              <a:rPr lang="en-US" sz="2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,</a:t>
            </a:r>
            <a:r>
              <a:rPr b="0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 eliminating manual status tracking across disconnected tools.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F2F3F6"/>
          </a:solidFill>
          <a:ln cap="flat" cmpd="sng" w="12700">
            <a:solidFill>
              <a:srgbClr val="F2F3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8"/>
          <p:cNvSpPr/>
          <p:nvPr/>
        </p:nvSpPr>
        <p:spPr>
          <a:xfrm>
            <a:off x="502920" y="658368"/>
            <a:ext cx="960120" cy="43891"/>
          </a:xfrm>
          <a:prstGeom prst="rect">
            <a:avLst/>
          </a:prstGeom>
          <a:solidFill>
            <a:srgbClr val="0A0F4F"/>
          </a:solidFill>
          <a:ln cap="flat" cmpd="sng" w="12700">
            <a:solidFill>
              <a:srgbClr val="0A0F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8"/>
          <p:cNvSpPr/>
          <p:nvPr/>
        </p:nvSpPr>
        <p:spPr>
          <a:xfrm>
            <a:off x="1463040" y="658368"/>
            <a:ext cx="438912" cy="43891"/>
          </a:xfrm>
          <a:prstGeom prst="rect">
            <a:avLst/>
          </a:prstGeom>
          <a:solidFill>
            <a:srgbClr val="1A2AD4"/>
          </a:solidFill>
          <a:ln cap="flat" cmpd="sng" w="12700">
            <a:solidFill>
              <a:srgbClr val="1A2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"/>
          <p:cNvSpPr/>
          <p:nvPr/>
        </p:nvSpPr>
        <p:spPr>
          <a:xfrm>
            <a:off x="502920" y="749808"/>
            <a:ext cx="7315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Production Pipeline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0" name="Google Shape;140;p8"/>
          <p:cNvCxnSpPr/>
          <p:nvPr/>
        </p:nvCxnSpPr>
        <p:spPr>
          <a:xfrm>
            <a:off x="502920" y="4919472"/>
            <a:ext cx="8138160" cy="0"/>
          </a:xfrm>
          <a:prstGeom prst="straightConnector1">
            <a:avLst/>
          </a:prstGeom>
          <a:noFill/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1" name="Google Shape;141;p8"/>
          <p:cNvSpPr/>
          <p:nvPr/>
        </p:nvSpPr>
        <p:spPr>
          <a:xfrm>
            <a:off x="502920" y="4946904"/>
            <a:ext cx="4572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BA0"/>
              </a:buClr>
              <a:buSzPts val="750"/>
              <a:buFont typeface="Trebuchet MS"/>
              <a:buNone/>
            </a:pPr>
            <a:r>
              <a:rPr b="0" i="0" lang="en-US" sz="750" u="none" cap="none" strike="noStrike">
                <a:solidFill>
                  <a:srgbClr val="888BA0"/>
                </a:solidFill>
                <a:latin typeface="Trebuchet MS"/>
                <a:ea typeface="Trebuchet MS"/>
                <a:cs typeface="Trebuchet MS"/>
                <a:sym typeface="Trebuchet MS"/>
              </a:rPr>
              <a:t>BlkQuarry — Confidential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6492240" y="4946904"/>
            <a:ext cx="2148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BA0"/>
              </a:buClr>
              <a:buSzPts val="750"/>
              <a:buFont typeface="Trebuchet MS"/>
              <a:buNone/>
            </a:pPr>
            <a:r>
              <a:rPr b="0" i="0" lang="en-US" sz="750" u="none" cap="none" strike="noStrike">
                <a:solidFill>
                  <a:srgbClr val="888BA0"/>
                </a:solidFill>
                <a:latin typeface="Trebuchet MS"/>
                <a:ea typeface="Trebuchet MS"/>
                <a:cs typeface="Trebuchet MS"/>
                <a:sym typeface="Trebuchet MS"/>
              </a:rPr>
              <a:t>blkquarry.com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502920" y="1371600"/>
            <a:ext cx="8138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BA0"/>
              </a:buClr>
              <a:buSzPts val="1050"/>
              <a:buFont typeface="Trebuchet MS"/>
              <a:buNone/>
            </a:pPr>
            <a:r>
              <a:rPr b="0" i="1" lang="en-US" sz="1050" u="none" cap="none" strike="noStrike">
                <a:solidFill>
                  <a:srgbClr val="888BA0"/>
                </a:solidFill>
                <a:latin typeface="Trebuchet MS"/>
                <a:ea typeface="Trebuchet MS"/>
                <a:cs typeface="Trebuchet MS"/>
                <a:sym typeface="Trebuchet MS"/>
              </a:rPr>
              <a:t>Five stages defined for every job, each with three live status options the user selects as the job progresses.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365760" y="1700784"/>
            <a:ext cx="16093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BA0"/>
              </a:buClr>
              <a:buSzPts val="800"/>
              <a:buFont typeface="Trebuchet MS"/>
              <a:buNone/>
            </a:pPr>
            <a:r>
              <a:rPr b="0" i="0" lang="en-US" sz="800" u="none" cap="none" strike="noStrike">
                <a:solidFill>
                  <a:srgbClr val="888BA0"/>
                </a:solidFill>
                <a:latin typeface="Trebuchet MS"/>
                <a:ea typeface="Trebuchet MS"/>
                <a:cs typeface="Trebuchet MS"/>
                <a:sym typeface="Trebuchet MS"/>
              </a:rPr>
              <a:t>01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365760" y="1920240"/>
            <a:ext cx="1609344" cy="822960"/>
          </a:xfrm>
          <a:prstGeom prst="rect">
            <a:avLst/>
          </a:prstGeom>
          <a:solidFill>
            <a:srgbClr val="0A0F4F"/>
          </a:solidFill>
          <a:ln cap="flat" cmpd="sng" w="12700">
            <a:solidFill>
              <a:srgbClr val="0A0F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"/>
          <p:cNvSpPr/>
          <p:nvPr/>
        </p:nvSpPr>
        <p:spPr>
          <a:xfrm>
            <a:off x="365760" y="1920240"/>
            <a:ext cx="1609344" cy="36576"/>
          </a:xfrm>
          <a:prstGeom prst="rect">
            <a:avLst/>
          </a:prstGeom>
          <a:solidFill>
            <a:srgbClr val="1A2AD4"/>
          </a:solidFill>
          <a:ln cap="flat" cmpd="sng" w="12700">
            <a:solidFill>
              <a:srgbClr val="1A2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"/>
          <p:cNvSpPr/>
          <p:nvPr/>
        </p:nvSpPr>
        <p:spPr>
          <a:xfrm>
            <a:off x="438912" y="1956816"/>
            <a:ext cx="14630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Brief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Received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" name="Google Shape;148;p8"/>
          <p:cNvCxnSpPr/>
          <p:nvPr/>
        </p:nvCxnSpPr>
        <p:spPr>
          <a:xfrm>
            <a:off x="1975104" y="2331720"/>
            <a:ext cx="109728" cy="0"/>
          </a:xfrm>
          <a:prstGeom prst="straightConnector1">
            <a:avLst/>
          </a:prstGeom>
          <a:noFill/>
          <a:ln cap="flat" cmpd="sng" w="12700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9" name="Google Shape;149;p8"/>
          <p:cNvSpPr/>
          <p:nvPr/>
        </p:nvSpPr>
        <p:spPr>
          <a:xfrm>
            <a:off x="365760" y="2816352"/>
            <a:ext cx="1609344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493776" y="3090672"/>
            <a:ext cx="91440" cy="91440"/>
          </a:xfrm>
          <a:prstGeom prst="rect">
            <a:avLst/>
          </a:prstGeom>
          <a:solidFill>
            <a:srgbClr val="1A2AD4"/>
          </a:solidFill>
          <a:ln cap="flat" cmpd="sng" w="12700">
            <a:solidFill>
              <a:srgbClr val="1A2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658368" y="2907792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800"/>
              <a:buFont typeface="Trebuchet MS"/>
              <a:buNone/>
            </a:pPr>
            <a:r>
              <a:rPr b="0" i="0" lang="en-US" sz="80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In Progress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365760" y="3511296"/>
            <a:ext cx="1609344" cy="658368"/>
          </a:xfrm>
          <a:prstGeom prst="rect">
            <a:avLst/>
          </a:prstGeom>
          <a:solidFill>
            <a:srgbClr val="F2F3F6"/>
          </a:solidFill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493776" y="3785616"/>
            <a:ext cx="91440" cy="91440"/>
          </a:xfrm>
          <a:prstGeom prst="rect">
            <a:avLst/>
          </a:prstGeom>
          <a:solidFill>
            <a:srgbClr val="8A5A00"/>
          </a:solidFill>
          <a:ln cap="flat" cmpd="sng" w="12700">
            <a:solidFill>
              <a:srgbClr val="8A5A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"/>
          <p:cNvSpPr/>
          <p:nvPr/>
        </p:nvSpPr>
        <p:spPr>
          <a:xfrm>
            <a:off x="658368" y="3602736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800"/>
              <a:buFont typeface="Trebuchet MS"/>
              <a:buNone/>
            </a:pPr>
            <a:r>
              <a:rPr b="0" i="0" lang="en-US" sz="80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Awaiting Info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365760" y="4206240"/>
            <a:ext cx="1609344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493776" y="4480560"/>
            <a:ext cx="91440" cy="91440"/>
          </a:xfrm>
          <a:prstGeom prst="rect">
            <a:avLst/>
          </a:prstGeom>
          <a:solidFill>
            <a:srgbClr val="0D6B3A"/>
          </a:solidFill>
          <a:ln cap="flat" cmpd="sng" w="12700">
            <a:solidFill>
              <a:srgbClr val="0D6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"/>
          <p:cNvSpPr/>
          <p:nvPr/>
        </p:nvSpPr>
        <p:spPr>
          <a:xfrm>
            <a:off x="658368" y="4297680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800"/>
              <a:buFont typeface="Trebuchet MS"/>
              <a:buNone/>
            </a:pPr>
            <a:r>
              <a:rPr b="0" i="0" lang="en-US" sz="80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Brief Confirmed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2084832" y="1700784"/>
            <a:ext cx="16093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BA0"/>
              </a:buClr>
              <a:buSzPts val="800"/>
              <a:buFont typeface="Trebuchet MS"/>
              <a:buNone/>
            </a:pPr>
            <a:r>
              <a:rPr b="0" i="0" lang="en-US" sz="800" u="none" cap="none" strike="noStrike">
                <a:solidFill>
                  <a:srgbClr val="888BA0"/>
                </a:solidFill>
                <a:latin typeface="Trebuchet MS"/>
                <a:ea typeface="Trebuchet MS"/>
                <a:cs typeface="Trebuchet MS"/>
                <a:sym typeface="Trebuchet MS"/>
              </a:rPr>
              <a:t>02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2084832" y="1920240"/>
            <a:ext cx="1609344" cy="822960"/>
          </a:xfrm>
          <a:prstGeom prst="rect">
            <a:avLst/>
          </a:prstGeom>
          <a:solidFill>
            <a:srgbClr val="0A0F4F"/>
          </a:solidFill>
          <a:ln cap="flat" cmpd="sng" w="12700">
            <a:solidFill>
              <a:srgbClr val="0A0F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2084832" y="1920240"/>
            <a:ext cx="1609344" cy="36576"/>
          </a:xfrm>
          <a:prstGeom prst="rect">
            <a:avLst/>
          </a:prstGeom>
          <a:solidFill>
            <a:srgbClr val="1A2AD4"/>
          </a:solidFill>
          <a:ln cap="flat" cmpd="sng" w="12700">
            <a:solidFill>
              <a:srgbClr val="1A2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2157984" y="1956816"/>
            <a:ext cx="14630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Invoiced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2" name="Google Shape;162;p8"/>
          <p:cNvCxnSpPr/>
          <p:nvPr/>
        </p:nvCxnSpPr>
        <p:spPr>
          <a:xfrm>
            <a:off x="3694176" y="2331720"/>
            <a:ext cx="109728" cy="0"/>
          </a:xfrm>
          <a:prstGeom prst="straightConnector1">
            <a:avLst/>
          </a:prstGeom>
          <a:noFill/>
          <a:ln cap="flat" cmpd="sng" w="12700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3" name="Google Shape;163;p8"/>
          <p:cNvSpPr/>
          <p:nvPr/>
        </p:nvSpPr>
        <p:spPr>
          <a:xfrm>
            <a:off x="2084832" y="2816352"/>
            <a:ext cx="1609344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2212848" y="3090672"/>
            <a:ext cx="91440" cy="91440"/>
          </a:xfrm>
          <a:prstGeom prst="rect">
            <a:avLst/>
          </a:prstGeom>
          <a:solidFill>
            <a:srgbClr val="1A2AD4"/>
          </a:solidFill>
          <a:ln cap="flat" cmpd="sng" w="12700">
            <a:solidFill>
              <a:srgbClr val="1A2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2377440" y="2907792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800"/>
              <a:buFont typeface="Trebuchet MS"/>
              <a:buNone/>
            </a:pPr>
            <a:r>
              <a:rPr b="0" i="0" lang="en-US" sz="80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Being Invoiced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2084832" y="3511296"/>
            <a:ext cx="1609344" cy="658368"/>
          </a:xfrm>
          <a:prstGeom prst="rect">
            <a:avLst/>
          </a:prstGeom>
          <a:solidFill>
            <a:srgbClr val="F2F3F6"/>
          </a:solidFill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2212848" y="3785616"/>
            <a:ext cx="91440" cy="91440"/>
          </a:xfrm>
          <a:prstGeom prst="rect">
            <a:avLst/>
          </a:prstGeom>
          <a:solidFill>
            <a:srgbClr val="8A5A00"/>
          </a:solidFill>
          <a:ln cap="flat" cmpd="sng" w="12700">
            <a:solidFill>
              <a:srgbClr val="8A5A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2377440" y="3602736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800"/>
              <a:buFont typeface="Trebuchet MS"/>
              <a:buNone/>
            </a:pPr>
            <a:r>
              <a:rPr b="0" i="0" lang="en-US" sz="80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On Hold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2084832" y="4206240"/>
            <a:ext cx="1609344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2212848" y="4480560"/>
            <a:ext cx="91440" cy="91440"/>
          </a:xfrm>
          <a:prstGeom prst="rect">
            <a:avLst/>
          </a:prstGeom>
          <a:solidFill>
            <a:srgbClr val="0D6B3A"/>
          </a:solidFill>
          <a:ln cap="flat" cmpd="sng" w="12700">
            <a:solidFill>
              <a:srgbClr val="0D6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2377440" y="4297680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800"/>
              <a:buFont typeface="Trebuchet MS"/>
              <a:buNone/>
            </a:pPr>
            <a:r>
              <a:rPr b="0" i="0" lang="en-US" sz="80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Invoice Sent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3803904" y="1700784"/>
            <a:ext cx="16093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BA0"/>
              </a:buClr>
              <a:buSzPts val="800"/>
              <a:buFont typeface="Trebuchet MS"/>
              <a:buNone/>
            </a:pPr>
            <a:r>
              <a:rPr b="0" i="0" lang="en-US" sz="800" u="none" cap="none" strike="noStrike">
                <a:solidFill>
                  <a:srgbClr val="888BA0"/>
                </a:solidFill>
                <a:latin typeface="Trebuchet MS"/>
                <a:ea typeface="Trebuchet MS"/>
                <a:cs typeface="Trebuchet MS"/>
                <a:sym typeface="Trebuchet MS"/>
              </a:rPr>
              <a:t>03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3803904" y="1920240"/>
            <a:ext cx="1609344" cy="822960"/>
          </a:xfrm>
          <a:prstGeom prst="rect">
            <a:avLst/>
          </a:prstGeom>
          <a:solidFill>
            <a:srgbClr val="0A0F4F"/>
          </a:solidFill>
          <a:ln cap="flat" cmpd="sng" w="12700">
            <a:solidFill>
              <a:srgbClr val="0A0F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3803904" y="1920240"/>
            <a:ext cx="1609344" cy="36576"/>
          </a:xfrm>
          <a:prstGeom prst="rect">
            <a:avLst/>
          </a:prstGeom>
          <a:solidFill>
            <a:srgbClr val="1A2AD4"/>
          </a:solidFill>
          <a:ln cap="flat" cmpd="sng" w="12700">
            <a:solidFill>
              <a:srgbClr val="1A2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"/>
          <p:cNvSpPr/>
          <p:nvPr/>
        </p:nvSpPr>
        <p:spPr>
          <a:xfrm>
            <a:off x="3877056" y="1956816"/>
            <a:ext cx="14630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Client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Approval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6" name="Google Shape;176;p8"/>
          <p:cNvCxnSpPr/>
          <p:nvPr/>
        </p:nvCxnSpPr>
        <p:spPr>
          <a:xfrm>
            <a:off x="5413248" y="2331720"/>
            <a:ext cx="109728" cy="0"/>
          </a:xfrm>
          <a:prstGeom prst="straightConnector1">
            <a:avLst/>
          </a:prstGeom>
          <a:noFill/>
          <a:ln cap="flat" cmpd="sng" w="12700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7" name="Google Shape;177;p8"/>
          <p:cNvSpPr/>
          <p:nvPr/>
        </p:nvSpPr>
        <p:spPr>
          <a:xfrm>
            <a:off x="3803904" y="2816352"/>
            <a:ext cx="1609344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3931920" y="3090672"/>
            <a:ext cx="91440" cy="91440"/>
          </a:xfrm>
          <a:prstGeom prst="rect">
            <a:avLst/>
          </a:prstGeom>
          <a:solidFill>
            <a:srgbClr val="1A2AD4"/>
          </a:solidFill>
          <a:ln cap="flat" cmpd="sng" w="12700">
            <a:solidFill>
              <a:srgbClr val="1A2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4096512" y="2907792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800"/>
              <a:buFont typeface="Trebuchet MS"/>
              <a:buNone/>
            </a:pPr>
            <a:r>
              <a:rPr b="0" i="0" lang="en-US" sz="80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Awaiting Approval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3803904" y="3511296"/>
            <a:ext cx="1609344" cy="658368"/>
          </a:xfrm>
          <a:prstGeom prst="rect">
            <a:avLst/>
          </a:prstGeom>
          <a:solidFill>
            <a:srgbClr val="F2F3F6"/>
          </a:solidFill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3931920" y="3785616"/>
            <a:ext cx="91440" cy="91440"/>
          </a:xfrm>
          <a:prstGeom prst="rect">
            <a:avLst/>
          </a:prstGeom>
          <a:solidFill>
            <a:srgbClr val="8A5A00"/>
          </a:solidFill>
          <a:ln cap="flat" cmpd="sng" w="12700">
            <a:solidFill>
              <a:srgbClr val="8A5A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4096512" y="3602736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800"/>
              <a:buFont typeface="Trebuchet MS"/>
              <a:buNone/>
            </a:pPr>
            <a:r>
              <a:rPr b="0" i="0" lang="en-US" sz="80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Revision Requested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3803904" y="4206240"/>
            <a:ext cx="1609344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"/>
          <p:cNvSpPr/>
          <p:nvPr/>
        </p:nvSpPr>
        <p:spPr>
          <a:xfrm>
            <a:off x="3931920" y="4480560"/>
            <a:ext cx="91440" cy="91440"/>
          </a:xfrm>
          <a:prstGeom prst="rect">
            <a:avLst/>
          </a:prstGeom>
          <a:solidFill>
            <a:srgbClr val="0D6B3A"/>
          </a:solidFill>
          <a:ln cap="flat" cmpd="sng" w="12700">
            <a:solidFill>
              <a:srgbClr val="0D6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4096512" y="4297680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800"/>
              <a:buFont typeface="Trebuchet MS"/>
              <a:buNone/>
            </a:pPr>
            <a:r>
              <a:rPr b="0" i="0" lang="en-US" sz="80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Approved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5522976" y="1700784"/>
            <a:ext cx="16093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BA0"/>
              </a:buClr>
              <a:buSzPts val="800"/>
              <a:buFont typeface="Trebuchet MS"/>
              <a:buNone/>
            </a:pPr>
            <a:r>
              <a:rPr b="0" i="0" lang="en-US" sz="800" u="none" cap="none" strike="noStrike">
                <a:solidFill>
                  <a:srgbClr val="888BA0"/>
                </a:solidFill>
                <a:latin typeface="Trebuchet MS"/>
                <a:ea typeface="Trebuchet MS"/>
                <a:cs typeface="Trebuchet MS"/>
                <a:sym typeface="Trebuchet MS"/>
              </a:rPr>
              <a:t>04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5522976" y="1920240"/>
            <a:ext cx="1609344" cy="822960"/>
          </a:xfrm>
          <a:prstGeom prst="rect">
            <a:avLst/>
          </a:prstGeom>
          <a:solidFill>
            <a:srgbClr val="0A0F4F"/>
          </a:solidFill>
          <a:ln cap="flat" cmpd="sng" w="12700">
            <a:solidFill>
              <a:srgbClr val="0A0F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"/>
          <p:cNvSpPr/>
          <p:nvPr/>
        </p:nvSpPr>
        <p:spPr>
          <a:xfrm>
            <a:off x="5522976" y="1920240"/>
            <a:ext cx="1609344" cy="36576"/>
          </a:xfrm>
          <a:prstGeom prst="rect">
            <a:avLst/>
          </a:prstGeom>
          <a:solidFill>
            <a:srgbClr val="1A2AD4"/>
          </a:solidFill>
          <a:ln cap="flat" cmpd="sng" w="12700">
            <a:solidFill>
              <a:srgbClr val="1A2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"/>
          <p:cNvSpPr/>
          <p:nvPr/>
        </p:nvSpPr>
        <p:spPr>
          <a:xfrm>
            <a:off x="5596128" y="1956816"/>
            <a:ext cx="14630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 Print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0" name="Google Shape;190;p8"/>
          <p:cNvCxnSpPr/>
          <p:nvPr/>
        </p:nvCxnSpPr>
        <p:spPr>
          <a:xfrm>
            <a:off x="7132320" y="2331720"/>
            <a:ext cx="109728" cy="0"/>
          </a:xfrm>
          <a:prstGeom prst="straightConnector1">
            <a:avLst/>
          </a:prstGeom>
          <a:noFill/>
          <a:ln cap="flat" cmpd="sng" w="12700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1" name="Google Shape;191;p8"/>
          <p:cNvSpPr/>
          <p:nvPr/>
        </p:nvSpPr>
        <p:spPr>
          <a:xfrm>
            <a:off x="5522976" y="2816352"/>
            <a:ext cx="1609344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"/>
          <p:cNvSpPr/>
          <p:nvPr/>
        </p:nvSpPr>
        <p:spPr>
          <a:xfrm>
            <a:off x="5650992" y="3090672"/>
            <a:ext cx="91440" cy="91440"/>
          </a:xfrm>
          <a:prstGeom prst="rect">
            <a:avLst/>
          </a:prstGeom>
          <a:solidFill>
            <a:srgbClr val="1A2AD4"/>
          </a:solidFill>
          <a:ln cap="flat" cmpd="sng" w="12700">
            <a:solidFill>
              <a:srgbClr val="1A2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5815584" y="2907792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800"/>
              <a:buFont typeface="Trebuchet MS"/>
              <a:buNone/>
            </a:pPr>
            <a:r>
              <a:rPr b="0" i="0" lang="en-US" sz="80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In Production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5522976" y="3511296"/>
            <a:ext cx="1609344" cy="658368"/>
          </a:xfrm>
          <a:prstGeom prst="rect">
            <a:avLst/>
          </a:prstGeom>
          <a:solidFill>
            <a:srgbClr val="F2F3F6"/>
          </a:solidFill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5650992" y="3785616"/>
            <a:ext cx="91440" cy="91440"/>
          </a:xfrm>
          <a:prstGeom prst="rect">
            <a:avLst/>
          </a:prstGeom>
          <a:solidFill>
            <a:srgbClr val="8A5A00"/>
          </a:solidFill>
          <a:ln cap="flat" cmpd="sng" w="12700">
            <a:solidFill>
              <a:srgbClr val="8A5A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5815584" y="3602736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800"/>
              <a:buFont typeface="Trebuchet MS"/>
              <a:buNone/>
            </a:pPr>
            <a:r>
              <a:rPr b="0" i="0" lang="en-US" sz="80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Print Hold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5522976" y="4206240"/>
            <a:ext cx="1609344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"/>
          <p:cNvSpPr/>
          <p:nvPr/>
        </p:nvSpPr>
        <p:spPr>
          <a:xfrm>
            <a:off x="5650992" y="4480560"/>
            <a:ext cx="91440" cy="91440"/>
          </a:xfrm>
          <a:prstGeom prst="rect">
            <a:avLst/>
          </a:prstGeom>
          <a:solidFill>
            <a:srgbClr val="0D6B3A"/>
          </a:solidFill>
          <a:ln cap="flat" cmpd="sng" w="12700">
            <a:solidFill>
              <a:srgbClr val="0D6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5815584" y="4297680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800"/>
              <a:buFont typeface="Trebuchet MS"/>
              <a:buNone/>
            </a:pPr>
            <a:r>
              <a:rPr b="0" i="0" lang="en-US" sz="80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Print Complete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7242048" y="1700784"/>
            <a:ext cx="16093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BA0"/>
              </a:buClr>
              <a:buSzPts val="800"/>
              <a:buFont typeface="Trebuchet MS"/>
              <a:buNone/>
            </a:pPr>
            <a:r>
              <a:rPr b="0" i="0" lang="en-US" sz="800" u="none" cap="none" strike="noStrike">
                <a:solidFill>
                  <a:srgbClr val="888BA0"/>
                </a:solidFill>
                <a:latin typeface="Trebuchet MS"/>
                <a:ea typeface="Trebuchet MS"/>
                <a:cs typeface="Trebuchet MS"/>
                <a:sym typeface="Trebuchet MS"/>
              </a:rPr>
              <a:t>05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7242048" y="1920240"/>
            <a:ext cx="1609344" cy="822960"/>
          </a:xfrm>
          <a:prstGeom prst="rect">
            <a:avLst/>
          </a:prstGeom>
          <a:solidFill>
            <a:srgbClr val="0A0F4F"/>
          </a:solidFill>
          <a:ln cap="flat" cmpd="sng" w="12700">
            <a:solidFill>
              <a:srgbClr val="0A0F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7242048" y="1920240"/>
            <a:ext cx="1609344" cy="36576"/>
          </a:xfrm>
          <a:prstGeom prst="rect">
            <a:avLst/>
          </a:prstGeom>
          <a:solidFill>
            <a:srgbClr val="1A2AD4"/>
          </a:solidFill>
          <a:ln cap="flat" cmpd="sng" w="12700">
            <a:solidFill>
              <a:srgbClr val="1A2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7315200" y="1956816"/>
            <a:ext cx="14630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Shipping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7242048" y="2816352"/>
            <a:ext cx="1609344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7370064" y="3090672"/>
            <a:ext cx="91440" cy="91440"/>
          </a:xfrm>
          <a:prstGeom prst="rect">
            <a:avLst/>
          </a:prstGeom>
          <a:solidFill>
            <a:srgbClr val="1A2AD4"/>
          </a:solidFill>
          <a:ln cap="flat" cmpd="sng" w="12700">
            <a:solidFill>
              <a:srgbClr val="1A2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7534656" y="2907792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800"/>
              <a:buFont typeface="Trebuchet MS"/>
              <a:buNone/>
            </a:pPr>
            <a:r>
              <a:rPr b="0" i="0" lang="en-US" sz="80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Dispatched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7242048" y="3511296"/>
            <a:ext cx="1609344" cy="658368"/>
          </a:xfrm>
          <a:prstGeom prst="rect">
            <a:avLst/>
          </a:prstGeom>
          <a:solidFill>
            <a:srgbClr val="F2F3F6"/>
          </a:solidFill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"/>
          <p:cNvSpPr/>
          <p:nvPr/>
        </p:nvSpPr>
        <p:spPr>
          <a:xfrm>
            <a:off x="7370064" y="3785616"/>
            <a:ext cx="91440" cy="91440"/>
          </a:xfrm>
          <a:prstGeom prst="rect">
            <a:avLst/>
          </a:prstGeom>
          <a:solidFill>
            <a:srgbClr val="8A5A00"/>
          </a:solidFill>
          <a:ln cap="flat" cmpd="sng" w="12700">
            <a:solidFill>
              <a:srgbClr val="8A5A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"/>
          <p:cNvSpPr/>
          <p:nvPr/>
        </p:nvSpPr>
        <p:spPr>
          <a:xfrm>
            <a:off x="7534656" y="3602736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800"/>
              <a:buFont typeface="Trebuchet MS"/>
              <a:buNone/>
            </a:pPr>
            <a:r>
              <a:rPr b="0" i="0" lang="en-US" sz="80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Delivery Delay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7242048" y="4206240"/>
            <a:ext cx="1609344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8"/>
          <p:cNvSpPr/>
          <p:nvPr/>
        </p:nvSpPr>
        <p:spPr>
          <a:xfrm>
            <a:off x="7370064" y="4480560"/>
            <a:ext cx="91440" cy="91440"/>
          </a:xfrm>
          <a:prstGeom prst="rect">
            <a:avLst/>
          </a:prstGeom>
          <a:solidFill>
            <a:srgbClr val="0D6B3A"/>
          </a:solidFill>
          <a:ln cap="flat" cmpd="sng" w="12700">
            <a:solidFill>
              <a:srgbClr val="0D6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"/>
          <p:cNvSpPr/>
          <p:nvPr/>
        </p:nvSpPr>
        <p:spPr>
          <a:xfrm>
            <a:off x="7534656" y="4297680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800"/>
              <a:buFont typeface="Trebuchet MS"/>
              <a:buNone/>
            </a:pPr>
            <a:r>
              <a:rPr b="0" i="0" lang="en-US" sz="80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Delivered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F2F3F6"/>
          </a:solidFill>
          <a:ln cap="flat" cmpd="sng" w="12700">
            <a:solidFill>
              <a:srgbClr val="F2F3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"/>
          <p:cNvSpPr/>
          <p:nvPr/>
        </p:nvSpPr>
        <p:spPr>
          <a:xfrm>
            <a:off x="502920" y="658368"/>
            <a:ext cx="960120" cy="43891"/>
          </a:xfrm>
          <a:prstGeom prst="rect">
            <a:avLst/>
          </a:prstGeom>
          <a:solidFill>
            <a:srgbClr val="0A0F4F"/>
          </a:solidFill>
          <a:ln cap="flat" cmpd="sng" w="12700">
            <a:solidFill>
              <a:srgbClr val="0A0F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"/>
          <p:cNvSpPr/>
          <p:nvPr/>
        </p:nvSpPr>
        <p:spPr>
          <a:xfrm>
            <a:off x="1463040" y="658368"/>
            <a:ext cx="438912" cy="43891"/>
          </a:xfrm>
          <a:prstGeom prst="rect">
            <a:avLst/>
          </a:prstGeom>
          <a:solidFill>
            <a:srgbClr val="1A2AD4"/>
          </a:solidFill>
          <a:ln cap="flat" cmpd="sng" w="12700">
            <a:solidFill>
              <a:srgbClr val="1A2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9"/>
          <p:cNvSpPr/>
          <p:nvPr/>
        </p:nvSpPr>
        <p:spPr>
          <a:xfrm>
            <a:off x="502920" y="749808"/>
            <a:ext cx="7315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AS-IS vs TO-BE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2" name="Google Shape;222;p9"/>
          <p:cNvCxnSpPr/>
          <p:nvPr/>
        </p:nvCxnSpPr>
        <p:spPr>
          <a:xfrm>
            <a:off x="502920" y="4919472"/>
            <a:ext cx="8138160" cy="0"/>
          </a:xfrm>
          <a:prstGeom prst="straightConnector1">
            <a:avLst/>
          </a:prstGeom>
          <a:noFill/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3" name="Google Shape;223;p9"/>
          <p:cNvSpPr/>
          <p:nvPr/>
        </p:nvSpPr>
        <p:spPr>
          <a:xfrm>
            <a:off x="502920" y="4946904"/>
            <a:ext cx="4572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BA0"/>
              </a:buClr>
              <a:buSzPts val="750"/>
              <a:buFont typeface="Trebuchet MS"/>
              <a:buNone/>
            </a:pPr>
            <a:r>
              <a:rPr b="0" i="0" lang="en-US" sz="750" u="none" cap="none" strike="noStrike">
                <a:solidFill>
                  <a:srgbClr val="888BA0"/>
                </a:solidFill>
                <a:latin typeface="Trebuchet MS"/>
                <a:ea typeface="Trebuchet MS"/>
                <a:cs typeface="Trebuchet MS"/>
                <a:sym typeface="Trebuchet MS"/>
              </a:rPr>
              <a:t>BlkQuarry — Confidential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6492240" y="4946904"/>
            <a:ext cx="2148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BA0"/>
              </a:buClr>
              <a:buSzPts val="750"/>
              <a:buFont typeface="Trebuchet MS"/>
              <a:buNone/>
            </a:pPr>
            <a:r>
              <a:rPr b="0" i="0" lang="en-US" sz="750" u="none" cap="none" strike="noStrike">
                <a:solidFill>
                  <a:srgbClr val="888BA0"/>
                </a:solidFill>
                <a:latin typeface="Trebuchet MS"/>
                <a:ea typeface="Trebuchet MS"/>
                <a:cs typeface="Trebuchet MS"/>
                <a:sym typeface="Trebuchet MS"/>
              </a:rPr>
              <a:t>blkquarry.com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5" name="Google Shape;225;p9"/>
          <p:cNvCxnSpPr/>
          <p:nvPr/>
        </p:nvCxnSpPr>
        <p:spPr>
          <a:xfrm>
            <a:off x="502920" y="1389888"/>
            <a:ext cx="0" cy="3291840"/>
          </a:xfrm>
          <a:prstGeom prst="straightConnector1">
            <a:avLst/>
          </a:prstGeom>
          <a:noFill/>
          <a:ln cap="flat" cmpd="sng" w="19050">
            <a:solidFill>
              <a:srgbClr val="B5200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6" name="Google Shape;226;p9"/>
          <p:cNvSpPr/>
          <p:nvPr/>
        </p:nvSpPr>
        <p:spPr>
          <a:xfrm>
            <a:off x="685800" y="1389888"/>
            <a:ext cx="3474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200D"/>
              </a:buClr>
              <a:buSzPts val="800"/>
              <a:buFont typeface="Trebuchet MS"/>
              <a:buNone/>
            </a:pPr>
            <a:r>
              <a:rPr b="1" i="0" lang="en-US" sz="800" u="none" cap="none" strike="noStrike">
                <a:solidFill>
                  <a:srgbClr val="B5200D"/>
                </a:solidFill>
                <a:latin typeface="Trebuchet MS"/>
                <a:ea typeface="Trebuchet MS"/>
                <a:cs typeface="Trebuchet MS"/>
                <a:sym typeface="Trebuchet MS"/>
              </a:rPr>
              <a:t>AS-IS  —  BEFORE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7" name="Google Shape;227;p9"/>
          <p:cNvCxnSpPr/>
          <p:nvPr/>
        </p:nvCxnSpPr>
        <p:spPr>
          <a:xfrm>
            <a:off x="685800" y="1645920"/>
            <a:ext cx="3474720" cy="0"/>
          </a:xfrm>
          <a:prstGeom prst="straightConnector1">
            <a:avLst/>
          </a:prstGeom>
          <a:noFill/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8" name="Google Shape;228;p9"/>
          <p:cNvSpPr/>
          <p:nvPr/>
        </p:nvSpPr>
        <p:spPr>
          <a:xfrm>
            <a:off x="685800" y="1764792"/>
            <a:ext cx="91440" cy="91440"/>
          </a:xfrm>
          <a:prstGeom prst="rect">
            <a:avLst/>
          </a:prstGeom>
          <a:solidFill>
            <a:srgbClr val="B5200D"/>
          </a:solidFill>
          <a:ln cap="flat" cmpd="sng" w="12700">
            <a:solidFill>
              <a:srgbClr val="B520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"/>
          <p:cNvSpPr/>
          <p:nvPr/>
        </p:nvSpPr>
        <p:spPr>
          <a:xfrm>
            <a:off x="877824" y="1709928"/>
            <a:ext cx="3337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950"/>
              <a:buFont typeface="Trebuchet MS"/>
              <a:buNone/>
            </a:pPr>
            <a:r>
              <a:rPr b="0" i="0" lang="en-US" sz="95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KAM tracked all jobs manually with no centralised view across the team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0" name="Google Shape;230;p9"/>
          <p:cNvCxnSpPr/>
          <p:nvPr/>
        </p:nvCxnSpPr>
        <p:spPr>
          <a:xfrm>
            <a:off x="685800" y="2148840"/>
            <a:ext cx="3474720" cy="0"/>
          </a:xfrm>
          <a:prstGeom prst="straightConnector1">
            <a:avLst/>
          </a:prstGeom>
          <a:noFill/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1" name="Google Shape;231;p9"/>
          <p:cNvSpPr/>
          <p:nvPr/>
        </p:nvSpPr>
        <p:spPr>
          <a:xfrm>
            <a:off x="685800" y="2276856"/>
            <a:ext cx="91440" cy="91440"/>
          </a:xfrm>
          <a:prstGeom prst="rect">
            <a:avLst/>
          </a:prstGeom>
          <a:solidFill>
            <a:srgbClr val="B5200D"/>
          </a:solidFill>
          <a:ln cap="flat" cmpd="sng" w="12700">
            <a:solidFill>
              <a:srgbClr val="B520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9"/>
          <p:cNvSpPr/>
          <p:nvPr/>
        </p:nvSpPr>
        <p:spPr>
          <a:xfrm>
            <a:off x="877824" y="2221992"/>
            <a:ext cx="3337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950"/>
              <a:buFont typeface="Trebuchet MS"/>
              <a:buNone/>
            </a:pPr>
            <a:r>
              <a:rPr b="0" i="0" lang="en-US" sz="95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No data separation</a:t>
            </a:r>
            <a:r>
              <a:rPr lang="en-US" sz="950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,</a:t>
            </a:r>
            <a:r>
              <a:rPr b="0" i="0" lang="en-US" sz="95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 staff could see each other's jobs and client details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3" name="Google Shape;233;p9"/>
          <p:cNvCxnSpPr/>
          <p:nvPr/>
        </p:nvCxnSpPr>
        <p:spPr>
          <a:xfrm>
            <a:off x="685800" y="2660904"/>
            <a:ext cx="3474720" cy="0"/>
          </a:xfrm>
          <a:prstGeom prst="straightConnector1">
            <a:avLst/>
          </a:prstGeom>
          <a:noFill/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4" name="Google Shape;234;p9"/>
          <p:cNvSpPr/>
          <p:nvPr/>
        </p:nvSpPr>
        <p:spPr>
          <a:xfrm>
            <a:off x="685800" y="2788920"/>
            <a:ext cx="91440" cy="91440"/>
          </a:xfrm>
          <a:prstGeom prst="rect">
            <a:avLst/>
          </a:prstGeom>
          <a:solidFill>
            <a:srgbClr val="B5200D"/>
          </a:solidFill>
          <a:ln cap="flat" cmpd="sng" w="12700">
            <a:solidFill>
              <a:srgbClr val="B520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9"/>
          <p:cNvSpPr/>
          <p:nvPr/>
        </p:nvSpPr>
        <p:spPr>
          <a:xfrm>
            <a:off x="877824" y="2734056"/>
            <a:ext cx="3337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950"/>
              <a:buFont typeface="Trebuchet MS"/>
              <a:buNone/>
            </a:pPr>
            <a:r>
              <a:rPr b="0" i="0" lang="en-US" sz="95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Invoice, approval, and production status tracked in separate places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6" name="Google Shape;236;p9"/>
          <p:cNvCxnSpPr/>
          <p:nvPr/>
        </p:nvCxnSpPr>
        <p:spPr>
          <a:xfrm>
            <a:off x="685800" y="3172968"/>
            <a:ext cx="3474720" cy="0"/>
          </a:xfrm>
          <a:prstGeom prst="straightConnector1">
            <a:avLst/>
          </a:prstGeom>
          <a:noFill/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7" name="Google Shape;237;p9"/>
          <p:cNvSpPr/>
          <p:nvPr/>
        </p:nvSpPr>
        <p:spPr>
          <a:xfrm>
            <a:off x="685800" y="3300984"/>
            <a:ext cx="91440" cy="91440"/>
          </a:xfrm>
          <a:prstGeom prst="rect">
            <a:avLst/>
          </a:prstGeom>
          <a:solidFill>
            <a:srgbClr val="B5200D"/>
          </a:solidFill>
          <a:ln cap="flat" cmpd="sng" w="12700">
            <a:solidFill>
              <a:srgbClr val="B520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9"/>
          <p:cNvSpPr/>
          <p:nvPr/>
        </p:nvSpPr>
        <p:spPr>
          <a:xfrm>
            <a:off x="877824" y="3246120"/>
            <a:ext cx="3337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950"/>
              <a:buFont typeface="Trebuchet MS"/>
              <a:buNone/>
            </a:pPr>
            <a:r>
              <a:rPr b="0" i="0" lang="en-US" sz="95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New jobs added inconsistently</a:t>
            </a:r>
            <a:r>
              <a:rPr lang="en-US" sz="950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,</a:t>
            </a:r>
            <a:r>
              <a:rPr b="0" i="0" lang="en-US" sz="95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 no standard intake format or required fields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9" name="Google Shape;239;p9"/>
          <p:cNvCxnSpPr/>
          <p:nvPr/>
        </p:nvCxnSpPr>
        <p:spPr>
          <a:xfrm>
            <a:off x="685800" y="3685032"/>
            <a:ext cx="3474720" cy="0"/>
          </a:xfrm>
          <a:prstGeom prst="straightConnector1">
            <a:avLst/>
          </a:prstGeom>
          <a:noFill/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0" name="Google Shape;240;p9"/>
          <p:cNvSpPr/>
          <p:nvPr/>
        </p:nvSpPr>
        <p:spPr>
          <a:xfrm>
            <a:off x="685800" y="3813048"/>
            <a:ext cx="91440" cy="91440"/>
          </a:xfrm>
          <a:prstGeom prst="rect">
            <a:avLst/>
          </a:prstGeom>
          <a:solidFill>
            <a:srgbClr val="B5200D"/>
          </a:solidFill>
          <a:ln cap="flat" cmpd="sng" w="12700">
            <a:solidFill>
              <a:srgbClr val="B520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9"/>
          <p:cNvSpPr/>
          <p:nvPr/>
        </p:nvSpPr>
        <p:spPr>
          <a:xfrm>
            <a:off x="877824" y="3758184"/>
            <a:ext cx="3337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950"/>
              <a:buFont typeface="Trebuchet MS"/>
              <a:buNone/>
            </a:pPr>
            <a:r>
              <a:rPr b="0" i="0" lang="en-US" sz="95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No audit trail</a:t>
            </a:r>
            <a:r>
              <a:rPr lang="en-US" sz="950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,</a:t>
            </a:r>
            <a:r>
              <a:rPr b="0" i="0" lang="en-US" sz="95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 no record of when stages changed or who updated what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4315968" y="2651760"/>
            <a:ext cx="51206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AD4"/>
              </a:buClr>
              <a:buSzPts val="2200"/>
              <a:buFont typeface="Trebuchet MS"/>
              <a:buNone/>
            </a:pPr>
            <a:r>
              <a:rPr b="0" i="0" lang="en-US" sz="2200" u="none" cap="none" strike="noStrike">
                <a:solidFill>
                  <a:srgbClr val="1A2AD4"/>
                </a:solidFill>
                <a:latin typeface="Trebuchet MS"/>
                <a:ea typeface="Trebuchet MS"/>
                <a:cs typeface="Trebuchet MS"/>
                <a:sym typeface="Trebuchet MS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3" name="Google Shape;243;p9"/>
          <p:cNvCxnSpPr/>
          <p:nvPr/>
        </p:nvCxnSpPr>
        <p:spPr>
          <a:xfrm>
            <a:off x="4937760" y="1389888"/>
            <a:ext cx="0" cy="3291840"/>
          </a:xfrm>
          <a:prstGeom prst="straightConnector1">
            <a:avLst/>
          </a:prstGeom>
          <a:noFill/>
          <a:ln cap="flat" cmpd="sng" w="19050">
            <a:solidFill>
              <a:srgbClr val="0D6B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4" name="Google Shape;244;p9"/>
          <p:cNvSpPr/>
          <p:nvPr/>
        </p:nvSpPr>
        <p:spPr>
          <a:xfrm>
            <a:off x="5120640" y="1389888"/>
            <a:ext cx="3474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6B3A"/>
              </a:buClr>
              <a:buSzPts val="800"/>
              <a:buFont typeface="Trebuchet MS"/>
              <a:buNone/>
            </a:pPr>
            <a:r>
              <a:rPr b="1" i="0" lang="en-US" sz="800" u="none" cap="none" strike="noStrike">
                <a:solidFill>
                  <a:srgbClr val="0D6B3A"/>
                </a:solidFill>
                <a:latin typeface="Trebuchet MS"/>
                <a:ea typeface="Trebuchet MS"/>
                <a:cs typeface="Trebuchet MS"/>
                <a:sym typeface="Trebuchet MS"/>
              </a:rPr>
              <a:t>TO-BE  —  AFTER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5" name="Google Shape;245;p9"/>
          <p:cNvCxnSpPr/>
          <p:nvPr/>
        </p:nvCxnSpPr>
        <p:spPr>
          <a:xfrm>
            <a:off x="5120640" y="1645920"/>
            <a:ext cx="3474720" cy="0"/>
          </a:xfrm>
          <a:prstGeom prst="straightConnector1">
            <a:avLst/>
          </a:prstGeom>
          <a:noFill/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6" name="Google Shape;246;p9"/>
          <p:cNvSpPr/>
          <p:nvPr/>
        </p:nvSpPr>
        <p:spPr>
          <a:xfrm>
            <a:off x="5120640" y="1764792"/>
            <a:ext cx="91440" cy="91440"/>
          </a:xfrm>
          <a:prstGeom prst="rect">
            <a:avLst/>
          </a:prstGeom>
          <a:solidFill>
            <a:srgbClr val="0D6B3A"/>
          </a:solidFill>
          <a:ln cap="flat" cmpd="sng" w="12700">
            <a:solidFill>
              <a:srgbClr val="0D6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9"/>
          <p:cNvSpPr/>
          <p:nvPr/>
        </p:nvSpPr>
        <p:spPr>
          <a:xfrm>
            <a:off x="5321808" y="1709928"/>
            <a:ext cx="3337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950"/>
              <a:buFont typeface="Trebuchet MS"/>
              <a:buNone/>
            </a:pPr>
            <a:r>
              <a:rPr b="0" i="0" lang="en-US" sz="95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KAM has single admin dashboard showing all jobs across all 6 users in real time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8" name="Google Shape;248;p9"/>
          <p:cNvCxnSpPr/>
          <p:nvPr/>
        </p:nvCxnSpPr>
        <p:spPr>
          <a:xfrm>
            <a:off x="5120640" y="2148840"/>
            <a:ext cx="3474720" cy="0"/>
          </a:xfrm>
          <a:prstGeom prst="straightConnector1">
            <a:avLst/>
          </a:prstGeom>
          <a:noFill/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9" name="Google Shape;249;p9"/>
          <p:cNvSpPr/>
          <p:nvPr/>
        </p:nvSpPr>
        <p:spPr>
          <a:xfrm>
            <a:off x="5120640" y="2276856"/>
            <a:ext cx="91440" cy="91440"/>
          </a:xfrm>
          <a:prstGeom prst="rect">
            <a:avLst/>
          </a:prstGeom>
          <a:solidFill>
            <a:srgbClr val="0D6B3A"/>
          </a:solidFill>
          <a:ln cap="flat" cmpd="sng" w="12700">
            <a:solidFill>
              <a:srgbClr val="0D6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9"/>
          <p:cNvSpPr/>
          <p:nvPr/>
        </p:nvSpPr>
        <p:spPr>
          <a:xfrm>
            <a:off x="5321808" y="2221992"/>
            <a:ext cx="3337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950"/>
              <a:buFont typeface="Trebuchet MS"/>
              <a:buNone/>
            </a:pPr>
            <a:r>
              <a:rPr b="0" i="0" lang="en-US" sz="95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Login-based access control</a:t>
            </a:r>
            <a:r>
              <a:rPr lang="en-US" sz="950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,</a:t>
            </a:r>
            <a:r>
              <a:rPr b="0" i="0" lang="en-US" sz="95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 each user sees only their own jobs, no cross-visibility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1" name="Google Shape;251;p9"/>
          <p:cNvCxnSpPr/>
          <p:nvPr/>
        </p:nvCxnSpPr>
        <p:spPr>
          <a:xfrm>
            <a:off x="5120640" y="2660904"/>
            <a:ext cx="3474720" cy="0"/>
          </a:xfrm>
          <a:prstGeom prst="straightConnector1">
            <a:avLst/>
          </a:prstGeom>
          <a:noFill/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2" name="Google Shape;252;p9"/>
          <p:cNvSpPr/>
          <p:nvPr/>
        </p:nvSpPr>
        <p:spPr>
          <a:xfrm>
            <a:off x="5120640" y="2788920"/>
            <a:ext cx="91440" cy="91440"/>
          </a:xfrm>
          <a:prstGeom prst="rect">
            <a:avLst/>
          </a:prstGeom>
          <a:solidFill>
            <a:srgbClr val="0D6B3A"/>
          </a:solidFill>
          <a:ln cap="flat" cmpd="sng" w="12700">
            <a:solidFill>
              <a:srgbClr val="0D6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9"/>
          <p:cNvSpPr/>
          <p:nvPr/>
        </p:nvSpPr>
        <p:spPr>
          <a:xfrm>
            <a:off x="5321808" y="2734056"/>
            <a:ext cx="3337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950"/>
              <a:buFont typeface="Trebuchet MS"/>
              <a:buNone/>
            </a:pPr>
            <a:r>
              <a:rPr b="0" i="0" lang="en-US" sz="95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All pipeline stages in one view</a:t>
            </a:r>
            <a:r>
              <a:rPr lang="en-US" sz="950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,</a:t>
            </a:r>
            <a:r>
              <a:rPr b="0" i="0" lang="en-US" sz="95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 brief, invoice, approval, print, shipping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4" name="Google Shape;254;p9"/>
          <p:cNvCxnSpPr/>
          <p:nvPr/>
        </p:nvCxnSpPr>
        <p:spPr>
          <a:xfrm>
            <a:off x="5120640" y="3172968"/>
            <a:ext cx="3474720" cy="0"/>
          </a:xfrm>
          <a:prstGeom prst="straightConnector1">
            <a:avLst/>
          </a:prstGeom>
          <a:noFill/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5" name="Google Shape;255;p9"/>
          <p:cNvSpPr/>
          <p:nvPr/>
        </p:nvSpPr>
        <p:spPr>
          <a:xfrm>
            <a:off x="5120640" y="3300984"/>
            <a:ext cx="91440" cy="91440"/>
          </a:xfrm>
          <a:prstGeom prst="rect">
            <a:avLst/>
          </a:prstGeom>
          <a:solidFill>
            <a:srgbClr val="0D6B3A"/>
          </a:solidFill>
          <a:ln cap="flat" cmpd="sng" w="12700">
            <a:solidFill>
              <a:srgbClr val="0D6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9"/>
          <p:cNvSpPr/>
          <p:nvPr/>
        </p:nvSpPr>
        <p:spPr>
          <a:xfrm>
            <a:off x="5321808" y="3246120"/>
            <a:ext cx="3337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950"/>
              <a:buFont typeface="Trebuchet MS"/>
              <a:buNone/>
            </a:pPr>
            <a:r>
              <a:rPr b="0" i="0" lang="en-US" sz="95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Structured intake form with dropdowns and required fields</a:t>
            </a:r>
            <a:r>
              <a:rPr lang="en-US" sz="950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,</a:t>
            </a:r>
            <a:r>
              <a:rPr b="0" i="0" lang="en-US" sz="95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 consistent data from day one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7" name="Google Shape;257;p9"/>
          <p:cNvCxnSpPr/>
          <p:nvPr/>
        </p:nvCxnSpPr>
        <p:spPr>
          <a:xfrm>
            <a:off x="5120640" y="3685032"/>
            <a:ext cx="3474720" cy="0"/>
          </a:xfrm>
          <a:prstGeom prst="straightConnector1">
            <a:avLst/>
          </a:prstGeom>
          <a:noFill/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8" name="Google Shape;258;p9"/>
          <p:cNvSpPr/>
          <p:nvPr/>
        </p:nvSpPr>
        <p:spPr>
          <a:xfrm>
            <a:off x="5120640" y="3813048"/>
            <a:ext cx="91440" cy="91440"/>
          </a:xfrm>
          <a:prstGeom prst="rect">
            <a:avLst/>
          </a:prstGeom>
          <a:solidFill>
            <a:srgbClr val="0D6B3A"/>
          </a:solidFill>
          <a:ln cap="flat" cmpd="sng" w="12700">
            <a:solidFill>
              <a:srgbClr val="0D6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9"/>
          <p:cNvSpPr/>
          <p:nvPr/>
        </p:nvSpPr>
        <p:spPr>
          <a:xfrm>
            <a:off x="5321808" y="3758184"/>
            <a:ext cx="3337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950"/>
              <a:buFont typeface="Trebuchet MS"/>
              <a:buNone/>
            </a:pPr>
            <a:r>
              <a:rPr b="0" i="0" lang="en-US" sz="95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Stage changes logged with timestamp and user</a:t>
            </a:r>
            <a:r>
              <a:rPr lang="en-US" sz="950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,</a:t>
            </a:r>
            <a:r>
              <a:rPr b="0" i="0" lang="en-US" sz="95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 full audit trail maintained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F2F3F6"/>
          </a:solidFill>
          <a:ln cap="flat" cmpd="sng" w="12700">
            <a:solidFill>
              <a:srgbClr val="F2F3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0"/>
          <p:cNvSpPr/>
          <p:nvPr/>
        </p:nvSpPr>
        <p:spPr>
          <a:xfrm>
            <a:off x="502920" y="658368"/>
            <a:ext cx="960120" cy="43891"/>
          </a:xfrm>
          <a:prstGeom prst="rect">
            <a:avLst/>
          </a:prstGeom>
          <a:solidFill>
            <a:srgbClr val="0A0F4F"/>
          </a:solidFill>
          <a:ln cap="flat" cmpd="sng" w="12700">
            <a:solidFill>
              <a:srgbClr val="0A0F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0"/>
          <p:cNvSpPr/>
          <p:nvPr/>
        </p:nvSpPr>
        <p:spPr>
          <a:xfrm>
            <a:off x="1463040" y="658368"/>
            <a:ext cx="438912" cy="43891"/>
          </a:xfrm>
          <a:prstGeom prst="rect">
            <a:avLst/>
          </a:prstGeom>
          <a:solidFill>
            <a:srgbClr val="1A2AD4"/>
          </a:solidFill>
          <a:ln cap="flat" cmpd="sng" w="12700">
            <a:solidFill>
              <a:srgbClr val="1A2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0"/>
          <p:cNvSpPr/>
          <p:nvPr/>
        </p:nvSpPr>
        <p:spPr>
          <a:xfrm>
            <a:off x="502920" y="749808"/>
            <a:ext cx="7315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Swimlane Process Diagram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9" name="Google Shape;269;p10"/>
          <p:cNvCxnSpPr/>
          <p:nvPr/>
        </p:nvCxnSpPr>
        <p:spPr>
          <a:xfrm>
            <a:off x="502920" y="4919472"/>
            <a:ext cx="8138160" cy="0"/>
          </a:xfrm>
          <a:prstGeom prst="straightConnector1">
            <a:avLst/>
          </a:prstGeom>
          <a:noFill/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0" name="Google Shape;270;p10"/>
          <p:cNvSpPr/>
          <p:nvPr/>
        </p:nvSpPr>
        <p:spPr>
          <a:xfrm>
            <a:off x="502920" y="4946904"/>
            <a:ext cx="4572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BA0"/>
              </a:buClr>
              <a:buSzPts val="750"/>
              <a:buFont typeface="Trebuchet MS"/>
              <a:buNone/>
            </a:pPr>
            <a:r>
              <a:rPr b="0" i="0" lang="en-US" sz="750" u="none" cap="none" strike="noStrike">
                <a:solidFill>
                  <a:srgbClr val="888BA0"/>
                </a:solidFill>
                <a:latin typeface="Trebuchet MS"/>
                <a:ea typeface="Trebuchet MS"/>
                <a:cs typeface="Trebuchet MS"/>
                <a:sym typeface="Trebuchet MS"/>
              </a:rPr>
              <a:t>BlkQuarry — Confidential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6492240" y="4946904"/>
            <a:ext cx="2148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BA0"/>
              </a:buClr>
              <a:buSzPts val="750"/>
              <a:buFont typeface="Trebuchet MS"/>
              <a:buNone/>
            </a:pPr>
            <a:r>
              <a:rPr b="0" i="0" lang="en-US" sz="750" u="none" cap="none" strike="noStrike">
                <a:solidFill>
                  <a:srgbClr val="888BA0"/>
                </a:solidFill>
                <a:latin typeface="Trebuchet MS"/>
                <a:ea typeface="Trebuchet MS"/>
                <a:cs typeface="Trebuchet MS"/>
                <a:sym typeface="Trebuchet MS"/>
              </a:rPr>
              <a:t>blkquarry.com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0"/>
          <p:cNvSpPr/>
          <p:nvPr/>
        </p:nvSpPr>
        <p:spPr>
          <a:xfrm>
            <a:off x="502920" y="1316736"/>
            <a:ext cx="256032" cy="64008"/>
          </a:xfrm>
          <a:prstGeom prst="rect">
            <a:avLst/>
          </a:prstGeom>
          <a:solidFill>
            <a:srgbClr val="888BA0"/>
          </a:solidFill>
          <a:ln cap="flat" cmpd="sng" w="12700">
            <a:solidFill>
              <a:srgbClr val="888B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0"/>
          <p:cNvSpPr/>
          <p:nvPr/>
        </p:nvSpPr>
        <p:spPr>
          <a:xfrm>
            <a:off x="813816" y="1261872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BA0"/>
              </a:buClr>
              <a:buSzPts val="800"/>
              <a:buFont typeface="Trebuchet MS"/>
              <a:buNone/>
            </a:pPr>
            <a:r>
              <a:rPr b="0" i="0" lang="en-US" sz="800" u="none" cap="none" strike="noStrike">
                <a:solidFill>
                  <a:srgbClr val="888BA0"/>
                </a:solidFill>
                <a:latin typeface="Trebuchet MS"/>
                <a:ea typeface="Trebuchet MS"/>
                <a:cs typeface="Trebuchet MS"/>
                <a:sym typeface="Trebuchet MS"/>
              </a:rPr>
              <a:t>Manual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2423160" y="1316736"/>
            <a:ext cx="256032" cy="64008"/>
          </a:xfrm>
          <a:prstGeom prst="rect">
            <a:avLst/>
          </a:prstGeom>
          <a:solidFill>
            <a:srgbClr val="1A2AD4"/>
          </a:solidFill>
          <a:ln cap="flat" cmpd="sng" w="12700">
            <a:solidFill>
              <a:srgbClr val="1A2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0"/>
          <p:cNvSpPr/>
          <p:nvPr/>
        </p:nvSpPr>
        <p:spPr>
          <a:xfrm>
            <a:off x="2734056" y="1261872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BA0"/>
              </a:buClr>
              <a:buSzPts val="800"/>
              <a:buFont typeface="Trebuchet MS"/>
              <a:buNone/>
            </a:pPr>
            <a:r>
              <a:rPr b="0" i="0" lang="en-US" sz="800" u="none" cap="none" strike="noStrike">
                <a:solidFill>
                  <a:srgbClr val="888BA0"/>
                </a:solidFill>
                <a:latin typeface="Trebuchet MS"/>
                <a:ea typeface="Trebuchet MS"/>
                <a:cs typeface="Trebuchet MS"/>
                <a:sym typeface="Trebuchet MS"/>
              </a:rPr>
              <a:t>Automated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4343400" y="1316736"/>
            <a:ext cx="256032" cy="64008"/>
          </a:xfrm>
          <a:prstGeom prst="rect">
            <a:avLst/>
          </a:prstGeom>
          <a:solidFill>
            <a:srgbClr val="8A5A00"/>
          </a:solidFill>
          <a:ln cap="flat" cmpd="sng" w="12700">
            <a:solidFill>
              <a:srgbClr val="8A5A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0"/>
          <p:cNvSpPr/>
          <p:nvPr/>
        </p:nvSpPr>
        <p:spPr>
          <a:xfrm>
            <a:off x="4654296" y="1261872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BA0"/>
              </a:buClr>
              <a:buSzPts val="800"/>
              <a:buFont typeface="Trebuchet MS"/>
              <a:buNone/>
            </a:pPr>
            <a:r>
              <a:rPr b="0" i="0" lang="en-US" sz="800" u="none" cap="none" strike="noStrike">
                <a:solidFill>
                  <a:srgbClr val="888BA0"/>
                </a:solidFill>
                <a:latin typeface="Trebuchet MS"/>
                <a:ea typeface="Trebuchet MS"/>
                <a:cs typeface="Trebuchet MS"/>
                <a:sym typeface="Trebuchet MS"/>
              </a:rPr>
              <a:t>Decision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6263640" y="1316736"/>
            <a:ext cx="256032" cy="64008"/>
          </a:xfrm>
          <a:prstGeom prst="rect">
            <a:avLst/>
          </a:prstGeom>
          <a:solidFill>
            <a:srgbClr val="0D6B3A"/>
          </a:solidFill>
          <a:ln cap="flat" cmpd="sng" w="12700">
            <a:solidFill>
              <a:srgbClr val="0D6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0"/>
          <p:cNvSpPr/>
          <p:nvPr/>
        </p:nvSpPr>
        <p:spPr>
          <a:xfrm>
            <a:off x="6574536" y="1261872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BA0"/>
              </a:buClr>
              <a:buSzPts val="800"/>
              <a:buFont typeface="Trebuchet MS"/>
              <a:buNone/>
            </a:pPr>
            <a:r>
              <a:rPr b="0" i="0" lang="en-US" sz="800" u="none" cap="none" strike="noStrike">
                <a:solidFill>
                  <a:srgbClr val="888BA0"/>
                </a:solidFill>
                <a:latin typeface="Trebuchet MS"/>
                <a:ea typeface="Trebuchet MS"/>
                <a:cs typeface="Trebuchet MS"/>
                <a:sym typeface="Trebuchet MS"/>
              </a:rPr>
              <a:t>Outcome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365760" y="1536192"/>
            <a:ext cx="1234440" cy="274320"/>
          </a:xfrm>
          <a:prstGeom prst="rect">
            <a:avLst/>
          </a:prstGeom>
          <a:solidFill>
            <a:srgbClr val="0A0F4F"/>
          </a:solidFill>
          <a:ln cap="flat" cmpd="sng" w="12700">
            <a:solidFill>
              <a:srgbClr val="0A0F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0"/>
          <p:cNvSpPr/>
          <p:nvPr/>
        </p:nvSpPr>
        <p:spPr>
          <a:xfrm>
            <a:off x="365760" y="1536192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BA0"/>
              </a:buClr>
              <a:buSzPts val="750"/>
              <a:buFont typeface="Trebuchet MS"/>
              <a:buNone/>
            </a:pPr>
            <a:r>
              <a:rPr b="1" i="0" lang="en-US" sz="750" u="none" cap="none" strike="noStrike">
                <a:solidFill>
                  <a:srgbClr val="888BA0"/>
                </a:solidFill>
                <a:latin typeface="Trebuchet MS"/>
                <a:ea typeface="Trebuchet MS"/>
                <a:cs typeface="Trebuchet MS"/>
                <a:sym typeface="Trebuchet MS"/>
              </a:rPr>
              <a:t>ACTOR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1645920" y="1536192"/>
            <a:ext cx="7132320" cy="274320"/>
          </a:xfrm>
          <a:prstGeom prst="rect">
            <a:avLst/>
          </a:prstGeom>
          <a:solidFill>
            <a:srgbClr val="F2F3F6"/>
          </a:solidFill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0"/>
          <p:cNvSpPr/>
          <p:nvPr/>
        </p:nvSpPr>
        <p:spPr>
          <a:xfrm>
            <a:off x="1645920" y="1536192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BA0"/>
              </a:buClr>
              <a:buSzPts val="750"/>
              <a:buFont typeface="Trebuchet MS"/>
              <a:buNone/>
            </a:pPr>
            <a:r>
              <a:rPr b="1" i="0" lang="en-US" sz="750" u="none" cap="none" strike="noStrike">
                <a:solidFill>
                  <a:srgbClr val="888BA0"/>
                </a:solidFill>
                <a:latin typeface="Trebuchet MS"/>
                <a:ea typeface="Trebuchet MS"/>
                <a:cs typeface="Trebuchet MS"/>
                <a:sym typeface="Trebuchet MS"/>
              </a:rPr>
              <a:t>PROCESS STEPS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365760" y="1847088"/>
            <a:ext cx="1234440" cy="74980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0"/>
          <p:cNvSpPr/>
          <p:nvPr/>
        </p:nvSpPr>
        <p:spPr>
          <a:xfrm>
            <a:off x="365760" y="1847088"/>
            <a:ext cx="36576" cy="749808"/>
          </a:xfrm>
          <a:prstGeom prst="rect">
            <a:avLst/>
          </a:prstGeom>
          <a:solidFill>
            <a:srgbClr val="0A0F4F"/>
          </a:solidFill>
          <a:ln cap="flat" cmpd="sng" w="12700">
            <a:solidFill>
              <a:srgbClr val="0A0F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0"/>
          <p:cNvSpPr/>
          <p:nvPr/>
        </p:nvSpPr>
        <p:spPr>
          <a:xfrm>
            <a:off x="438912" y="1901952"/>
            <a:ext cx="10789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F4F"/>
              </a:buClr>
              <a:buSzPts val="850"/>
              <a:buFont typeface="Trebuchet MS"/>
              <a:buNone/>
            </a:pPr>
            <a:r>
              <a:rPr b="1" i="0" lang="en-US" sz="850" u="none" cap="none" strike="noStrike">
                <a:solidFill>
                  <a:srgbClr val="0A0F4F"/>
                </a:solidFill>
                <a:latin typeface="Trebuchet MS"/>
                <a:ea typeface="Trebuchet MS"/>
                <a:cs typeface="Trebuchet MS"/>
                <a:sym typeface="Trebuchet MS"/>
              </a:rPr>
              <a:t>Sales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F4F"/>
              </a:buClr>
              <a:buSzPts val="850"/>
              <a:buFont typeface="Trebuchet MS"/>
              <a:buNone/>
            </a:pPr>
            <a:r>
              <a:rPr b="1" i="0" lang="en-US" sz="850" u="none" cap="none" strike="noStrike">
                <a:solidFill>
                  <a:srgbClr val="0A0F4F"/>
                </a:solidFill>
                <a:latin typeface="Trebuchet MS"/>
                <a:ea typeface="Trebuchet MS"/>
                <a:cs typeface="Trebuchet MS"/>
                <a:sym typeface="Trebuchet MS"/>
              </a:rPr>
              <a:t>Staff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1682496" y="1920240"/>
            <a:ext cx="1709928" cy="6217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0"/>
          <p:cNvSpPr/>
          <p:nvPr/>
        </p:nvSpPr>
        <p:spPr>
          <a:xfrm>
            <a:off x="1682496" y="1920240"/>
            <a:ext cx="27432" cy="621792"/>
          </a:xfrm>
          <a:prstGeom prst="rect">
            <a:avLst/>
          </a:prstGeom>
          <a:solidFill>
            <a:srgbClr val="888BA0"/>
          </a:solidFill>
          <a:ln cap="flat" cmpd="sng" w="12700">
            <a:solidFill>
              <a:srgbClr val="888B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0"/>
          <p:cNvSpPr/>
          <p:nvPr/>
        </p:nvSpPr>
        <p:spPr>
          <a:xfrm>
            <a:off x="1755648" y="1938528"/>
            <a:ext cx="160020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750"/>
              <a:buFont typeface="Trebuchet MS"/>
              <a:buNone/>
            </a:pPr>
            <a:r>
              <a:rPr b="0" i="0" lang="en-US" sz="75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Receives brief &amp; job parameters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0" name="Google Shape;290;p10"/>
          <p:cNvCxnSpPr/>
          <p:nvPr/>
        </p:nvCxnSpPr>
        <p:spPr>
          <a:xfrm>
            <a:off x="3392424" y="2231136"/>
            <a:ext cx="73152" cy="0"/>
          </a:xfrm>
          <a:prstGeom prst="straightConnector1">
            <a:avLst/>
          </a:prstGeom>
          <a:noFill/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1" name="Google Shape;291;p10"/>
          <p:cNvSpPr/>
          <p:nvPr/>
        </p:nvSpPr>
        <p:spPr>
          <a:xfrm>
            <a:off x="3465576" y="1920240"/>
            <a:ext cx="1709928" cy="6217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0"/>
          <p:cNvSpPr/>
          <p:nvPr/>
        </p:nvSpPr>
        <p:spPr>
          <a:xfrm>
            <a:off x="3465576" y="1920240"/>
            <a:ext cx="27432" cy="621792"/>
          </a:xfrm>
          <a:prstGeom prst="rect">
            <a:avLst/>
          </a:prstGeom>
          <a:solidFill>
            <a:srgbClr val="888BA0"/>
          </a:solidFill>
          <a:ln cap="flat" cmpd="sng" w="12700">
            <a:solidFill>
              <a:srgbClr val="888B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0"/>
          <p:cNvSpPr/>
          <p:nvPr/>
        </p:nvSpPr>
        <p:spPr>
          <a:xfrm>
            <a:off x="3538728" y="1938528"/>
            <a:ext cx="160020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750"/>
              <a:buFont typeface="Trebuchet MS"/>
              <a:buNone/>
            </a:pPr>
            <a:r>
              <a:rPr b="0" i="0" lang="en-US" sz="75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Logs in, fills intake form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4" name="Google Shape;294;p10"/>
          <p:cNvCxnSpPr/>
          <p:nvPr/>
        </p:nvCxnSpPr>
        <p:spPr>
          <a:xfrm>
            <a:off x="5175504" y="2231136"/>
            <a:ext cx="73152" cy="0"/>
          </a:xfrm>
          <a:prstGeom prst="straightConnector1">
            <a:avLst/>
          </a:prstGeom>
          <a:noFill/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5" name="Google Shape;295;p10"/>
          <p:cNvSpPr/>
          <p:nvPr/>
        </p:nvSpPr>
        <p:spPr>
          <a:xfrm>
            <a:off x="5248656" y="1920240"/>
            <a:ext cx="1709928" cy="621792"/>
          </a:xfrm>
          <a:prstGeom prst="rect">
            <a:avLst/>
          </a:prstGeom>
          <a:solidFill>
            <a:srgbClr val="EEF1FB"/>
          </a:solidFill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0"/>
          <p:cNvSpPr/>
          <p:nvPr/>
        </p:nvSpPr>
        <p:spPr>
          <a:xfrm>
            <a:off x="5248656" y="1920240"/>
            <a:ext cx="27432" cy="621792"/>
          </a:xfrm>
          <a:prstGeom prst="rect">
            <a:avLst/>
          </a:prstGeom>
          <a:solidFill>
            <a:srgbClr val="1A2AD4"/>
          </a:solidFill>
          <a:ln cap="flat" cmpd="sng" w="12700">
            <a:solidFill>
              <a:srgbClr val="1A2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0"/>
          <p:cNvSpPr/>
          <p:nvPr/>
        </p:nvSpPr>
        <p:spPr>
          <a:xfrm>
            <a:off x="5321808" y="1938528"/>
            <a:ext cx="160020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750"/>
              <a:buFont typeface="Trebuchet MS"/>
              <a:buNone/>
            </a:pPr>
            <a:r>
              <a:rPr b="0" i="0" lang="en-US" sz="75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Job populates into their view only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8" name="Google Shape;298;p10"/>
          <p:cNvCxnSpPr/>
          <p:nvPr/>
        </p:nvCxnSpPr>
        <p:spPr>
          <a:xfrm>
            <a:off x="6958584" y="2231136"/>
            <a:ext cx="73152" cy="0"/>
          </a:xfrm>
          <a:prstGeom prst="straightConnector1">
            <a:avLst/>
          </a:prstGeom>
          <a:noFill/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9" name="Google Shape;299;p10"/>
          <p:cNvSpPr/>
          <p:nvPr/>
        </p:nvSpPr>
        <p:spPr>
          <a:xfrm>
            <a:off x="7031736" y="1920240"/>
            <a:ext cx="1709928" cy="6217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0"/>
          <p:cNvSpPr/>
          <p:nvPr/>
        </p:nvSpPr>
        <p:spPr>
          <a:xfrm>
            <a:off x="7031736" y="1920240"/>
            <a:ext cx="27432" cy="621792"/>
          </a:xfrm>
          <a:prstGeom prst="rect">
            <a:avLst/>
          </a:prstGeom>
          <a:solidFill>
            <a:srgbClr val="888BA0"/>
          </a:solidFill>
          <a:ln cap="flat" cmpd="sng" w="12700">
            <a:solidFill>
              <a:srgbClr val="888B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0"/>
          <p:cNvSpPr/>
          <p:nvPr/>
        </p:nvSpPr>
        <p:spPr>
          <a:xfrm>
            <a:off x="7104888" y="1938528"/>
            <a:ext cx="160020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750"/>
              <a:buFont typeface="Trebuchet MS"/>
              <a:buNone/>
            </a:pPr>
            <a:r>
              <a:rPr b="0" i="0" lang="en-US" sz="75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Updates stage as job progresses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2" name="Google Shape;302;p10"/>
          <p:cNvCxnSpPr/>
          <p:nvPr/>
        </p:nvCxnSpPr>
        <p:spPr>
          <a:xfrm>
            <a:off x="365760" y="2596896"/>
            <a:ext cx="8412480" cy="0"/>
          </a:xfrm>
          <a:prstGeom prst="straightConnector1">
            <a:avLst/>
          </a:prstGeom>
          <a:noFill/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3" name="Google Shape;303;p10"/>
          <p:cNvSpPr/>
          <p:nvPr/>
        </p:nvSpPr>
        <p:spPr>
          <a:xfrm>
            <a:off x="365760" y="2633472"/>
            <a:ext cx="1234440" cy="749808"/>
          </a:xfrm>
          <a:prstGeom prst="rect">
            <a:avLst/>
          </a:prstGeom>
          <a:solidFill>
            <a:srgbClr val="F2F3F6"/>
          </a:solidFill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0"/>
          <p:cNvSpPr/>
          <p:nvPr/>
        </p:nvSpPr>
        <p:spPr>
          <a:xfrm>
            <a:off x="365760" y="2633472"/>
            <a:ext cx="36576" cy="749808"/>
          </a:xfrm>
          <a:prstGeom prst="rect">
            <a:avLst/>
          </a:prstGeom>
          <a:solidFill>
            <a:srgbClr val="0A0F4F"/>
          </a:solidFill>
          <a:ln cap="flat" cmpd="sng" w="12700">
            <a:solidFill>
              <a:srgbClr val="0A0F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0"/>
          <p:cNvSpPr/>
          <p:nvPr/>
        </p:nvSpPr>
        <p:spPr>
          <a:xfrm>
            <a:off x="438912" y="2688336"/>
            <a:ext cx="10789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F4F"/>
              </a:buClr>
              <a:buSzPts val="850"/>
              <a:buFont typeface="Trebuchet MS"/>
              <a:buNone/>
            </a:pPr>
            <a:r>
              <a:rPr b="1" i="0" lang="en-US" sz="850" u="none" cap="none" strike="noStrike">
                <a:solidFill>
                  <a:srgbClr val="0A0F4F"/>
                </a:solidFill>
                <a:latin typeface="Trebuchet MS"/>
                <a:ea typeface="Trebuchet MS"/>
                <a:cs typeface="Trebuchet MS"/>
                <a:sym typeface="Trebuchet MS"/>
              </a:rPr>
              <a:t>Web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F4F"/>
              </a:buClr>
              <a:buSzPts val="850"/>
              <a:buFont typeface="Trebuchet MS"/>
              <a:buNone/>
            </a:pPr>
            <a:r>
              <a:rPr b="1" i="0" lang="en-US" sz="850" u="none" cap="none" strike="noStrike">
                <a:solidFill>
                  <a:srgbClr val="0A0F4F"/>
                </a:solidFill>
                <a:latin typeface="Trebuchet MS"/>
                <a:ea typeface="Trebuchet MS"/>
                <a:cs typeface="Trebuchet MS"/>
                <a:sym typeface="Trebuchet MS"/>
              </a:rPr>
              <a:t>App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1682496" y="2706624"/>
            <a:ext cx="1709928" cy="621792"/>
          </a:xfrm>
          <a:prstGeom prst="rect">
            <a:avLst/>
          </a:prstGeom>
          <a:solidFill>
            <a:srgbClr val="EEF1FB"/>
          </a:solidFill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0"/>
          <p:cNvSpPr/>
          <p:nvPr/>
        </p:nvSpPr>
        <p:spPr>
          <a:xfrm>
            <a:off x="1682496" y="2706624"/>
            <a:ext cx="27432" cy="621792"/>
          </a:xfrm>
          <a:prstGeom prst="rect">
            <a:avLst/>
          </a:prstGeom>
          <a:solidFill>
            <a:srgbClr val="1A2AD4"/>
          </a:solidFill>
          <a:ln cap="flat" cmpd="sng" w="12700">
            <a:solidFill>
              <a:srgbClr val="1A2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0"/>
          <p:cNvSpPr/>
          <p:nvPr/>
        </p:nvSpPr>
        <p:spPr>
          <a:xfrm>
            <a:off x="1755648" y="2724912"/>
            <a:ext cx="160020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750"/>
              <a:buFont typeface="Trebuchet MS"/>
              <a:buNone/>
            </a:pPr>
            <a:r>
              <a:rPr b="0" i="0" lang="en-US" sz="75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Validates login, loads scoped view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9" name="Google Shape;309;p10"/>
          <p:cNvCxnSpPr/>
          <p:nvPr/>
        </p:nvCxnSpPr>
        <p:spPr>
          <a:xfrm>
            <a:off x="3392424" y="3017520"/>
            <a:ext cx="73152" cy="0"/>
          </a:xfrm>
          <a:prstGeom prst="straightConnector1">
            <a:avLst/>
          </a:prstGeom>
          <a:noFill/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0" name="Google Shape;310;p10"/>
          <p:cNvSpPr/>
          <p:nvPr/>
        </p:nvSpPr>
        <p:spPr>
          <a:xfrm>
            <a:off x="3465576" y="2706624"/>
            <a:ext cx="1709928" cy="621792"/>
          </a:xfrm>
          <a:prstGeom prst="rect">
            <a:avLst/>
          </a:prstGeom>
          <a:solidFill>
            <a:srgbClr val="EEF1FB"/>
          </a:solidFill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0"/>
          <p:cNvSpPr/>
          <p:nvPr/>
        </p:nvSpPr>
        <p:spPr>
          <a:xfrm>
            <a:off x="3465576" y="2706624"/>
            <a:ext cx="27432" cy="621792"/>
          </a:xfrm>
          <a:prstGeom prst="rect">
            <a:avLst/>
          </a:prstGeom>
          <a:solidFill>
            <a:srgbClr val="1A2AD4"/>
          </a:solidFill>
          <a:ln cap="flat" cmpd="sng" w="12700">
            <a:solidFill>
              <a:srgbClr val="1A2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0"/>
          <p:cNvSpPr/>
          <p:nvPr/>
        </p:nvSpPr>
        <p:spPr>
          <a:xfrm>
            <a:off x="3538728" y="2724912"/>
            <a:ext cx="160020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750"/>
              <a:buFont typeface="Trebuchet MS"/>
              <a:buNone/>
            </a:pPr>
            <a:r>
              <a:rPr b="0" i="0" lang="en-US" sz="75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Creates job record from form data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3" name="Google Shape;313;p10"/>
          <p:cNvCxnSpPr/>
          <p:nvPr/>
        </p:nvCxnSpPr>
        <p:spPr>
          <a:xfrm>
            <a:off x="5175504" y="3017520"/>
            <a:ext cx="73152" cy="0"/>
          </a:xfrm>
          <a:prstGeom prst="straightConnector1">
            <a:avLst/>
          </a:prstGeom>
          <a:noFill/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4" name="Google Shape;314;p10"/>
          <p:cNvSpPr/>
          <p:nvPr/>
        </p:nvSpPr>
        <p:spPr>
          <a:xfrm>
            <a:off x="5248656" y="2706624"/>
            <a:ext cx="1709928" cy="621792"/>
          </a:xfrm>
          <a:prstGeom prst="rect">
            <a:avLst/>
          </a:prstGeom>
          <a:solidFill>
            <a:srgbClr val="EEF1FB"/>
          </a:solidFill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0"/>
          <p:cNvSpPr/>
          <p:nvPr/>
        </p:nvSpPr>
        <p:spPr>
          <a:xfrm>
            <a:off x="5248656" y="2706624"/>
            <a:ext cx="27432" cy="621792"/>
          </a:xfrm>
          <a:prstGeom prst="rect">
            <a:avLst/>
          </a:prstGeom>
          <a:solidFill>
            <a:srgbClr val="1A2AD4"/>
          </a:solidFill>
          <a:ln cap="flat" cmpd="sng" w="12700">
            <a:solidFill>
              <a:srgbClr val="1A2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0"/>
          <p:cNvSpPr/>
          <p:nvPr/>
        </p:nvSpPr>
        <p:spPr>
          <a:xfrm>
            <a:off x="5321808" y="2724912"/>
            <a:ext cx="160020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750"/>
              <a:buFont typeface="Trebuchet MS"/>
              <a:buNone/>
            </a:pPr>
            <a:r>
              <a:rPr b="0" i="0" lang="en-US" sz="75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Renders pipeline with live status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7" name="Google Shape;317;p10"/>
          <p:cNvCxnSpPr/>
          <p:nvPr/>
        </p:nvCxnSpPr>
        <p:spPr>
          <a:xfrm>
            <a:off x="6958584" y="3017520"/>
            <a:ext cx="73152" cy="0"/>
          </a:xfrm>
          <a:prstGeom prst="straightConnector1">
            <a:avLst/>
          </a:prstGeom>
          <a:noFill/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8" name="Google Shape;318;p10"/>
          <p:cNvSpPr/>
          <p:nvPr/>
        </p:nvSpPr>
        <p:spPr>
          <a:xfrm>
            <a:off x="7031736" y="2706624"/>
            <a:ext cx="1709928" cy="621792"/>
          </a:xfrm>
          <a:prstGeom prst="rect">
            <a:avLst/>
          </a:prstGeom>
          <a:solidFill>
            <a:srgbClr val="EEF1FB"/>
          </a:solidFill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0"/>
          <p:cNvSpPr/>
          <p:nvPr/>
        </p:nvSpPr>
        <p:spPr>
          <a:xfrm>
            <a:off x="7031736" y="2706624"/>
            <a:ext cx="27432" cy="621792"/>
          </a:xfrm>
          <a:prstGeom prst="rect">
            <a:avLst/>
          </a:prstGeom>
          <a:solidFill>
            <a:srgbClr val="1A2AD4"/>
          </a:solidFill>
          <a:ln cap="flat" cmpd="sng" w="12700">
            <a:solidFill>
              <a:srgbClr val="1A2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0"/>
          <p:cNvSpPr/>
          <p:nvPr/>
        </p:nvSpPr>
        <p:spPr>
          <a:xfrm>
            <a:off x="7104888" y="2724912"/>
            <a:ext cx="160020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750"/>
              <a:buFont typeface="Trebuchet MS"/>
              <a:buNone/>
            </a:pPr>
            <a:r>
              <a:rPr b="0" i="0" lang="en-US" sz="75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Logs stage change + timestamp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1" name="Google Shape;321;p10"/>
          <p:cNvCxnSpPr/>
          <p:nvPr/>
        </p:nvCxnSpPr>
        <p:spPr>
          <a:xfrm>
            <a:off x="365760" y="3383280"/>
            <a:ext cx="8412480" cy="0"/>
          </a:xfrm>
          <a:prstGeom prst="straightConnector1">
            <a:avLst/>
          </a:prstGeom>
          <a:noFill/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2" name="Google Shape;322;p10"/>
          <p:cNvSpPr/>
          <p:nvPr/>
        </p:nvSpPr>
        <p:spPr>
          <a:xfrm>
            <a:off x="365760" y="3419856"/>
            <a:ext cx="1234440" cy="74980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0"/>
          <p:cNvSpPr/>
          <p:nvPr/>
        </p:nvSpPr>
        <p:spPr>
          <a:xfrm>
            <a:off x="365760" y="3419856"/>
            <a:ext cx="36576" cy="749808"/>
          </a:xfrm>
          <a:prstGeom prst="rect">
            <a:avLst/>
          </a:prstGeom>
          <a:solidFill>
            <a:srgbClr val="0A0F4F"/>
          </a:solidFill>
          <a:ln cap="flat" cmpd="sng" w="12700">
            <a:solidFill>
              <a:srgbClr val="0A0F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0"/>
          <p:cNvSpPr/>
          <p:nvPr/>
        </p:nvSpPr>
        <p:spPr>
          <a:xfrm>
            <a:off x="438912" y="3474720"/>
            <a:ext cx="10789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F4F"/>
              </a:buClr>
              <a:buSzPts val="850"/>
              <a:buFont typeface="Trebuchet MS"/>
              <a:buNone/>
            </a:pPr>
            <a:r>
              <a:rPr b="1" i="0" lang="en-US" sz="850" u="none" cap="none" strike="noStrike">
                <a:solidFill>
                  <a:srgbClr val="0A0F4F"/>
                </a:solidFill>
                <a:latin typeface="Trebuchet MS"/>
                <a:ea typeface="Trebuchet MS"/>
                <a:cs typeface="Trebuchet MS"/>
                <a:sym typeface="Trebuchet MS"/>
              </a:rPr>
              <a:t>KAM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F4F"/>
              </a:buClr>
              <a:buSzPts val="850"/>
              <a:buFont typeface="Trebuchet MS"/>
              <a:buNone/>
            </a:pPr>
            <a:r>
              <a:rPr b="1" i="0" lang="en-US" sz="850" u="none" cap="none" strike="noStrike">
                <a:solidFill>
                  <a:srgbClr val="0A0F4F"/>
                </a:solidFill>
                <a:latin typeface="Trebuchet MS"/>
                <a:ea typeface="Trebuchet MS"/>
                <a:cs typeface="Trebuchet MS"/>
                <a:sym typeface="Trebuchet MS"/>
              </a:rPr>
              <a:t>(Admin)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0"/>
          <p:cNvSpPr/>
          <p:nvPr/>
        </p:nvSpPr>
        <p:spPr>
          <a:xfrm>
            <a:off x="1682496" y="3493008"/>
            <a:ext cx="1709928" cy="621792"/>
          </a:xfrm>
          <a:prstGeom prst="rect">
            <a:avLst/>
          </a:prstGeom>
          <a:solidFill>
            <a:srgbClr val="EEF1FB"/>
          </a:solidFill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0"/>
          <p:cNvSpPr/>
          <p:nvPr/>
        </p:nvSpPr>
        <p:spPr>
          <a:xfrm>
            <a:off x="1682496" y="3493008"/>
            <a:ext cx="27432" cy="621792"/>
          </a:xfrm>
          <a:prstGeom prst="rect">
            <a:avLst/>
          </a:prstGeom>
          <a:solidFill>
            <a:srgbClr val="1A2AD4"/>
          </a:solidFill>
          <a:ln cap="flat" cmpd="sng" w="12700">
            <a:solidFill>
              <a:srgbClr val="1A2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0"/>
          <p:cNvSpPr/>
          <p:nvPr/>
        </p:nvSpPr>
        <p:spPr>
          <a:xfrm>
            <a:off x="1755648" y="3511296"/>
            <a:ext cx="160020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750"/>
              <a:buFont typeface="Trebuchet MS"/>
              <a:buNone/>
            </a:pPr>
            <a:r>
              <a:rPr b="0" i="0" lang="en-US" sz="75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Full dashboard — all jobs, all users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8" name="Google Shape;328;p10"/>
          <p:cNvCxnSpPr/>
          <p:nvPr/>
        </p:nvCxnSpPr>
        <p:spPr>
          <a:xfrm>
            <a:off x="3392424" y="3803904"/>
            <a:ext cx="73152" cy="0"/>
          </a:xfrm>
          <a:prstGeom prst="straightConnector1">
            <a:avLst/>
          </a:prstGeom>
          <a:noFill/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9" name="Google Shape;329;p10"/>
          <p:cNvSpPr/>
          <p:nvPr/>
        </p:nvSpPr>
        <p:spPr>
          <a:xfrm>
            <a:off x="3465576" y="3493008"/>
            <a:ext cx="1709928" cy="621792"/>
          </a:xfrm>
          <a:prstGeom prst="rect">
            <a:avLst/>
          </a:prstGeom>
          <a:solidFill>
            <a:srgbClr val="EEF1FB"/>
          </a:solidFill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0"/>
          <p:cNvSpPr/>
          <p:nvPr/>
        </p:nvSpPr>
        <p:spPr>
          <a:xfrm>
            <a:off x="3465576" y="3493008"/>
            <a:ext cx="27432" cy="621792"/>
          </a:xfrm>
          <a:prstGeom prst="rect">
            <a:avLst/>
          </a:prstGeom>
          <a:solidFill>
            <a:srgbClr val="1A2AD4"/>
          </a:solidFill>
          <a:ln cap="flat" cmpd="sng" w="12700">
            <a:solidFill>
              <a:srgbClr val="1A2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0"/>
          <p:cNvSpPr/>
          <p:nvPr/>
        </p:nvSpPr>
        <p:spPr>
          <a:xfrm>
            <a:off x="3538728" y="3511296"/>
            <a:ext cx="160020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750"/>
              <a:buFont typeface="Trebuchet MS"/>
              <a:buNone/>
            </a:pPr>
            <a:r>
              <a:rPr b="0" i="0" lang="en-US" sz="75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Filters by user, stage, or status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2" name="Google Shape;332;p10"/>
          <p:cNvCxnSpPr/>
          <p:nvPr/>
        </p:nvCxnSpPr>
        <p:spPr>
          <a:xfrm>
            <a:off x="5175504" y="3803904"/>
            <a:ext cx="73152" cy="0"/>
          </a:xfrm>
          <a:prstGeom prst="straightConnector1">
            <a:avLst/>
          </a:prstGeom>
          <a:noFill/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3" name="Google Shape;333;p10"/>
          <p:cNvSpPr/>
          <p:nvPr/>
        </p:nvSpPr>
        <p:spPr>
          <a:xfrm>
            <a:off x="5248656" y="3493008"/>
            <a:ext cx="1709928" cy="621792"/>
          </a:xfrm>
          <a:prstGeom prst="rect">
            <a:avLst/>
          </a:prstGeom>
          <a:solidFill>
            <a:srgbClr val="FBF6EC"/>
          </a:solidFill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0"/>
          <p:cNvSpPr/>
          <p:nvPr/>
        </p:nvSpPr>
        <p:spPr>
          <a:xfrm>
            <a:off x="5248656" y="3493008"/>
            <a:ext cx="27432" cy="621792"/>
          </a:xfrm>
          <a:prstGeom prst="rect">
            <a:avLst/>
          </a:prstGeom>
          <a:solidFill>
            <a:srgbClr val="8A5A00"/>
          </a:solidFill>
          <a:ln cap="flat" cmpd="sng" w="12700">
            <a:solidFill>
              <a:srgbClr val="8A5A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0"/>
          <p:cNvSpPr/>
          <p:nvPr/>
        </p:nvSpPr>
        <p:spPr>
          <a:xfrm>
            <a:off x="5321808" y="3511296"/>
            <a:ext cx="160020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750"/>
              <a:buFont typeface="Trebuchet MS"/>
              <a:buNone/>
            </a:pPr>
            <a:r>
              <a:rPr b="0" i="0" lang="en-US" sz="75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Job requires intervention?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6" name="Google Shape;336;p10"/>
          <p:cNvCxnSpPr/>
          <p:nvPr/>
        </p:nvCxnSpPr>
        <p:spPr>
          <a:xfrm>
            <a:off x="6958584" y="3803904"/>
            <a:ext cx="73152" cy="0"/>
          </a:xfrm>
          <a:prstGeom prst="straightConnector1">
            <a:avLst/>
          </a:prstGeom>
          <a:noFill/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7" name="Google Shape;337;p10"/>
          <p:cNvSpPr/>
          <p:nvPr/>
        </p:nvSpPr>
        <p:spPr>
          <a:xfrm>
            <a:off x="7031736" y="3493008"/>
            <a:ext cx="1709928" cy="621792"/>
          </a:xfrm>
          <a:prstGeom prst="rect">
            <a:avLst/>
          </a:prstGeom>
          <a:solidFill>
            <a:srgbClr val="EDF5F1"/>
          </a:solidFill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0"/>
          <p:cNvSpPr/>
          <p:nvPr/>
        </p:nvSpPr>
        <p:spPr>
          <a:xfrm>
            <a:off x="7031736" y="3493008"/>
            <a:ext cx="27432" cy="621792"/>
          </a:xfrm>
          <a:prstGeom prst="rect">
            <a:avLst/>
          </a:prstGeom>
          <a:solidFill>
            <a:srgbClr val="0D6B3A"/>
          </a:solidFill>
          <a:ln cap="flat" cmpd="sng" w="12700">
            <a:solidFill>
              <a:srgbClr val="0D6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0"/>
          <p:cNvSpPr/>
          <p:nvPr/>
        </p:nvSpPr>
        <p:spPr>
          <a:xfrm>
            <a:off x="7104888" y="3511296"/>
            <a:ext cx="160020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750"/>
              <a:buFont typeface="Trebuchet MS"/>
              <a:buNone/>
            </a:pPr>
            <a:r>
              <a:rPr b="0" i="0" lang="en-US" sz="75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Advances stage directly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0" name="Google Shape;340;p10"/>
          <p:cNvCxnSpPr/>
          <p:nvPr/>
        </p:nvCxnSpPr>
        <p:spPr>
          <a:xfrm>
            <a:off x="365760" y="4169664"/>
            <a:ext cx="8412480" cy="0"/>
          </a:xfrm>
          <a:prstGeom prst="straightConnector1">
            <a:avLst/>
          </a:prstGeom>
          <a:noFill/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1" name="Google Shape;341;p10"/>
          <p:cNvSpPr/>
          <p:nvPr/>
        </p:nvSpPr>
        <p:spPr>
          <a:xfrm>
            <a:off x="365760" y="4206240"/>
            <a:ext cx="1234440" cy="749808"/>
          </a:xfrm>
          <a:prstGeom prst="rect">
            <a:avLst/>
          </a:prstGeom>
          <a:solidFill>
            <a:srgbClr val="F2F3F6"/>
          </a:solidFill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0"/>
          <p:cNvSpPr/>
          <p:nvPr/>
        </p:nvSpPr>
        <p:spPr>
          <a:xfrm>
            <a:off x="365760" y="4206240"/>
            <a:ext cx="36576" cy="749808"/>
          </a:xfrm>
          <a:prstGeom prst="rect">
            <a:avLst/>
          </a:prstGeom>
          <a:solidFill>
            <a:srgbClr val="0A0F4F"/>
          </a:solidFill>
          <a:ln cap="flat" cmpd="sng" w="12700">
            <a:solidFill>
              <a:srgbClr val="0A0F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0"/>
          <p:cNvSpPr/>
          <p:nvPr/>
        </p:nvSpPr>
        <p:spPr>
          <a:xfrm>
            <a:off x="438912" y="4261104"/>
            <a:ext cx="10789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F4F"/>
              </a:buClr>
              <a:buSzPts val="850"/>
              <a:buFont typeface="Trebuchet MS"/>
              <a:buNone/>
            </a:pPr>
            <a:r>
              <a:rPr b="1" i="0" lang="en-US" sz="850" u="none" cap="none" strike="noStrike">
                <a:solidFill>
                  <a:srgbClr val="0A0F4F"/>
                </a:solidFill>
                <a:latin typeface="Trebuchet MS"/>
                <a:ea typeface="Trebuchet MS"/>
                <a:cs typeface="Trebuchet MS"/>
                <a:sym typeface="Trebuchet MS"/>
              </a:rPr>
              <a:t>Data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F4F"/>
              </a:buClr>
              <a:buSzPts val="850"/>
              <a:buFont typeface="Trebuchet MS"/>
              <a:buNone/>
            </a:pPr>
            <a:r>
              <a:rPr b="1" i="0" lang="en-US" sz="850" u="none" cap="none" strike="noStrike">
                <a:solidFill>
                  <a:srgbClr val="0A0F4F"/>
                </a:solidFill>
                <a:latin typeface="Trebuchet MS"/>
                <a:ea typeface="Trebuchet MS"/>
                <a:cs typeface="Trebuchet MS"/>
                <a:sym typeface="Trebuchet MS"/>
              </a:rPr>
              <a:t>Backend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0"/>
          <p:cNvSpPr/>
          <p:nvPr/>
        </p:nvSpPr>
        <p:spPr>
          <a:xfrm>
            <a:off x="1682496" y="4279392"/>
            <a:ext cx="1709928" cy="621792"/>
          </a:xfrm>
          <a:prstGeom prst="rect">
            <a:avLst/>
          </a:prstGeom>
          <a:solidFill>
            <a:srgbClr val="EEF1FB"/>
          </a:solidFill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0"/>
          <p:cNvSpPr/>
          <p:nvPr/>
        </p:nvSpPr>
        <p:spPr>
          <a:xfrm>
            <a:off x="1682496" y="4279392"/>
            <a:ext cx="27432" cy="621792"/>
          </a:xfrm>
          <a:prstGeom prst="rect">
            <a:avLst/>
          </a:prstGeom>
          <a:solidFill>
            <a:srgbClr val="1A2AD4"/>
          </a:solidFill>
          <a:ln cap="flat" cmpd="sng" w="12700">
            <a:solidFill>
              <a:srgbClr val="1A2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0"/>
          <p:cNvSpPr/>
          <p:nvPr/>
        </p:nvSpPr>
        <p:spPr>
          <a:xfrm>
            <a:off x="1755648" y="4297680"/>
            <a:ext cx="160020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750"/>
              <a:buFont typeface="Trebuchet MS"/>
              <a:buNone/>
            </a:pPr>
            <a:r>
              <a:rPr b="0" i="0" lang="en-US" sz="75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Receives structured job data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7" name="Google Shape;347;p10"/>
          <p:cNvCxnSpPr/>
          <p:nvPr/>
        </p:nvCxnSpPr>
        <p:spPr>
          <a:xfrm>
            <a:off x="3392424" y="4590288"/>
            <a:ext cx="73152" cy="0"/>
          </a:xfrm>
          <a:prstGeom prst="straightConnector1">
            <a:avLst/>
          </a:prstGeom>
          <a:noFill/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8" name="Google Shape;348;p10"/>
          <p:cNvSpPr/>
          <p:nvPr/>
        </p:nvSpPr>
        <p:spPr>
          <a:xfrm>
            <a:off x="3465576" y="4279392"/>
            <a:ext cx="1709928" cy="621792"/>
          </a:xfrm>
          <a:prstGeom prst="rect">
            <a:avLst/>
          </a:prstGeom>
          <a:solidFill>
            <a:srgbClr val="EEF1FB"/>
          </a:solidFill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0"/>
          <p:cNvSpPr/>
          <p:nvPr/>
        </p:nvSpPr>
        <p:spPr>
          <a:xfrm>
            <a:off x="3465576" y="4279392"/>
            <a:ext cx="27432" cy="621792"/>
          </a:xfrm>
          <a:prstGeom prst="rect">
            <a:avLst/>
          </a:prstGeom>
          <a:solidFill>
            <a:srgbClr val="1A2AD4"/>
          </a:solidFill>
          <a:ln cap="flat" cmpd="sng" w="12700">
            <a:solidFill>
              <a:srgbClr val="1A2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0"/>
          <p:cNvSpPr/>
          <p:nvPr/>
        </p:nvSpPr>
        <p:spPr>
          <a:xfrm>
            <a:off x="3538728" y="4297680"/>
            <a:ext cx="160020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750"/>
              <a:buFont typeface="Trebuchet MS"/>
              <a:buNone/>
            </a:pPr>
            <a:r>
              <a:rPr b="0" i="0" lang="en-US" sz="75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Reads &amp; writes stage changes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1" name="Google Shape;351;p10"/>
          <p:cNvCxnSpPr/>
          <p:nvPr/>
        </p:nvCxnSpPr>
        <p:spPr>
          <a:xfrm>
            <a:off x="5175504" y="4590288"/>
            <a:ext cx="73152" cy="0"/>
          </a:xfrm>
          <a:prstGeom prst="straightConnector1">
            <a:avLst/>
          </a:prstGeom>
          <a:noFill/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2" name="Google Shape;352;p10"/>
          <p:cNvSpPr/>
          <p:nvPr/>
        </p:nvSpPr>
        <p:spPr>
          <a:xfrm>
            <a:off x="5248656" y="4279392"/>
            <a:ext cx="1709928" cy="621792"/>
          </a:xfrm>
          <a:prstGeom prst="rect">
            <a:avLst/>
          </a:prstGeom>
          <a:solidFill>
            <a:srgbClr val="EEF1FB"/>
          </a:solidFill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0"/>
          <p:cNvSpPr/>
          <p:nvPr/>
        </p:nvSpPr>
        <p:spPr>
          <a:xfrm>
            <a:off x="5248656" y="4279392"/>
            <a:ext cx="27432" cy="621792"/>
          </a:xfrm>
          <a:prstGeom prst="rect">
            <a:avLst/>
          </a:prstGeom>
          <a:solidFill>
            <a:srgbClr val="1A2AD4"/>
          </a:solidFill>
          <a:ln cap="flat" cmpd="sng" w="12700">
            <a:solidFill>
              <a:srgbClr val="1A2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0"/>
          <p:cNvSpPr/>
          <p:nvPr/>
        </p:nvSpPr>
        <p:spPr>
          <a:xfrm>
            <a:off x="5321808" y="4297680"/>
            <a:ext cx="160020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750"/>
              <a:buFont typeface="Trebuchet MS"/>
              <a:buNone/>
            </a:pPr>
            <a:r>
              <a:rPr b="0" i="0" lang="en-US" sz="75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User scoping enforced at query level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5" name="Google Shape;355;p10"/>
          <p:cNvCxnSpPr/>
          <p:nvPr/>
        </p:nvCxnSpPr>
        <p:spPr>
          <a:xfrm>
            <a:off x="6958584" y="4590288"/>
            <a:ext cx="73152" cy="0"/>
          </a:xfrm>
          <a:prstGeom prst="straightConnector1">
            <a:avLst/>
          </a:prstGeom>
          <a:noFill/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6" name="Google Shape;356;p10"/>
          <p:cNvSpPr/>
          <p:nvPr/>
        </p:nvSpPr>
        <p:spPr>
          <a:xfrm>
            <a:off x="7031736" y="4279392"/>
            <a:ext cx="1709928" cy="621792"/>
          </a:xfrm>
          <a:prstGeom prst="rect">
            <a:avLst/>
          </a:prstGeom>
          <a:solidFill>
            <a:srgbClr val="EDF5F1"/>
          </a:solidFill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0"/>
          <p:cNvSpPr/>
          <p:nvPr/>
        </p:nvSpPr>
        <p:spPr>
          <a:xfrm>
            <a:off x="7031736" y="4279392"/>
            <a:ext cx="27432" cy="621792"/>
          </a:xfrm>
          <a:prstGeom prst="rect">
            <a:avLst/>
          </a:prstGeom>
          <a:solidFill>
            <a:srgbClr val="0D6B3A"/>
          </a:solidFill>
          <a:ln cap="flat" cmpd="sng" w="12700">
            <a:solidFill>
              <a:srgbClr val="0D6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0"/>
          <p:cNvSpPr/>
          <p:nvPr/>
        </p:nvSpPr>
        <p:spPr>
          <a:xfrm>
            <a:off x="7104888" y="4297680"/>
            <a:ext cx="160020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750"/>
              <a:buFont typeface="Trebuchet MS"/>
              <a:buNone/>
            </a:pPr>
            <a:r>
              <a:rPr b="0" i="0" lang="en-US" sz="75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Full audit log retained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9" name="Google Shape;359;p10"/>
          <p:cNvCxnSpPr/>
          <p:nvPr/>
        </p:nvCxnSpPr>
        <p:spPr>
          <a:xfrm>
            <a:off x="365760" y="4956048"/>
            <a:ext cx="8412480" cy="0"/>
          </a:xfrm>
          <a:prstGeom prst="straightConnector1">
            <a:avLst/>
          </a:prstGeom>
          <a:noFill/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F2F3F6"/>
          </a:solidFill>
          <a:ln cap="flat" cmpd="sng" w="12700">
            <a:solidFill>
              <a:srgbClr val="F2F3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1"/>
          <p:cNvSpPr/>
          <p:nvPr/>
        </p:nvSpPr>
        <p:spPr>
          <a:xfrm>
            <a:off x="502920" y="658368"/>
            <a:ext cx="960120" cy="43891"/>
          </a:xfrm>
          <a:prstGeom prst="rect">
            <a:avLst/>
          </a:prstGeom>
          <a:solidFill>
            <a:srgbClr val="0A0F4F"/>
          </a:solidFill>
          <a:ln cap="flat" cmpd="sng" w="12700">
            <a:solidFill>
              <a:srgbClr val="0A0F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1"/>
          <p:cNvSpPr/>
          <p:nvPr/>
        </p:nvSpPr>
        <p:spPr>
          <a:xfrm>
            <a:off x="1463040" y="658368"/>
            <a:ext cx="438912" cy="43891"/>
          </a:xfrm>
          <a:prstGeom prst="rect">
            <a:avLst/>
          </a:prstGeom>
          <a:solidFill>
            <a:srgbClr val="1A2AD4"/>
          </a:solidFill>
          <a:ln cap="flat" cmpd="sng" w="12700">
            <a:solidFill>
              <a:srgbClr val="1A2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1"/>
          <p:cNvSpPr/>
          <p:nvPr/>
        </p:nvSpPr>
        <p:spPr>
          <a:xfrm>
            <a:off x="502920" y="749808"/>
            <a:ext cx="5029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Technical Architecture Decision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1"/>
          <p:cNvSpPr/>
          <p:nvPr/>
        </p:nvSpPr>
        <p:spPr>
          <a:xfrm>
            <a:off x="502920" y="1225296"/>
            <a:ext cx="5029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F4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0A0F4F"/>
                </a:solidFill>
                <a:latin typeface="Trebuchet MS"/>
                <a:ea typeface="Trebuchet MS"/>
                <a:cs typeface="Trebuchet MS"/>
                <a:sym typeface="Trebuchet MS"/>
              </a:rPr>
              <a:t>Web App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1"/>
          <p:cNvSpPr/>
          <p:nvPr/>
        </p:nvSpPr>
        <p:spPr>
          <a:xfrm>
            <a:off x="502920" y="1792224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BA0"/>
              </a:buClr>
              <a:buSzPts val="1200"/>
              <a:buFont typeface="Trebuchet MS"/>
              <a:buNone/>
            </a:pPr>
            <a:r>
              <a:rPr b="0" i="1" lang="en-US" sz="1200" u="none" cap="none" strike="noStrike">
                <a:solidFill>
                  <a:srgbClr val="888BA0"/>
                </a:solidFill>
                <a:latin typeface="Trebuchet MS"/>
                <a:ea typeface="Trebuchet MS"/>
                <a:cs typeface="Trebuchet MS"/>
                <a:sym typeface="Trebuchet MS"/>
              </a:rPr>
              <a:t>over Desktop .exe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1"/>
          <p:cNvSpPr/>
          <p:nvPr/>
        </p:nvSpPr>
        <p:spPr>
          <a:xfrm>
            <a:off x="502920" y="2084832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D4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1A2AD4"/>
                </a:solidFill>
                <a:latin typeface="Trebuchet MS"/>
                <a:ea typeface="Trebuchet MS"/>
                <a:cs typeface="Trebuchet MS"/>
                <a:sym typeface="Trebuchet MS"/>
              </a:rPr>
              <a:t>Recommended by BlkQuarry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1"/>
          <p:cNvSpPr/>
          <p:nvPr/>
        </p:nvSpPr>
        <p:spPr>
          <a:xfrm>
            <a:off x="502920" y="2487168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Why this was the correct architecture: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1"/>
          <p:cNvSpPr/>
          <p:nvPr/>
        </p:nvSpPr>
        <p:spPr>
          <a:xfrm>
            <a:off x="502920" y="2798064"/>
            <a:ext cx="36576" cy="274320"/>
          </a:xfrm>
          <a:prstGeom prst="rect">
            <a:avLst/>
          </a:prstGeom>
          <a:solidFill>
            <a:srgbClr val="1A2AD4"/>
          </a:solidFill>
          <a:ln cap="flat" cmpd="sng" w="12700">
            <a:solidFill>
              <a:srgbClr val="1A2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1"/>
          <p:cNvSpPr/>
          <p:nvPr/>
        </p:nvSpPr>
        <p:spPr>
          <a:xfrm>
            <a:off x="640080" y="2816352"/>
            <a:ext cx="4846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900"/>
              <a:buFont typeface="Trebuchet MS"/>
              <a:buNone/>
            </a:pPr>
            <a:r>
              <a:rPr b="0" i="0" lang="en-US" sz="90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6 users on different machines</a:t>
            </a:r>
            <a:r>
              <a:rPr lang="en-US" sz="900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,</a:t>
            </a:r>
            <a:r>
              <a:rPr b="0" i="0" lang="en-US" sz="90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 no installation or version management required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5" name="Google Shape;375;p11"/>
          <p:cNvCxnSpPr/>
          <p:nvPr/>
        </p:nvCxnSpPr>
        <p:spPr>
          <a:xfrm>
            <a:off x="502920" y="3072384"/>
            <a:ext cx="5029200" cy="0"/>
          </a:xfrm>
          <a:prstGeom prst="straightConnector1">
            <a:avLst/>
          </a:prstGeom>
          <a:noFill/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6" name="Google Shape;376;p11"/>
          <p:cNvSpPr/>
          <p:nvPr/>
        </p:nvSpPr>
        <p:spPr>
          <a:xfrm>
            <a:off x="502920" y="3145536"/>
            <a:ext cx="36576" cy="274320"/>
          </a:xfrm>
          <a:prstGeom prst="rect">
            <a:avLst/>
          </a:prstGeom>
          <a:solidFill>
            <a:srgbClr val="1A2AD4"/>
          </a:solidFill>
          <a:ln cap="flat" cmpd="sng" w="12700">
            <a:solidFill>
              <a:srgbClr val="1A2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1"/>
          <p:cNvSpPr/>
          <p:nvPr/>
        </p:nvSpPr>
        <p:spPr>
          <a:xfrm>
            <a:off x="640080" y="3163824"/>
            <a:ext cx="4846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900"/>
              <a:buFont typeface="Trebuchet MS"/>
              <a:buNone/>
            </a:pPr>
            <a:r>
              <a:rPr b="0" i="0" lang="en-US" sz="90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KAM accesses from office, meetings, and on the go</a:t>
            </a:r>
            <a:r>
              <a:rPr lang="en-US" sz="900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,</a:t>
            </a:r>
            <a:r>
              <a:rPr b="0" i="0" lang="en-US" sz="90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 web app works on all devices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8" name="Google Shape;378;p11"/>
          <p:cNvCxnSpPr/>
          <p:nvPr/>
        </p:nvCxnSpPr>
        <p:spPr>
          <a:xfrm>
            <a:off x="502920" y="3419856"/>
            <a:ext cx="5029200" cy="0"/>
          </a:xfrm>
          <a:prstGeom prst="straightConnector1">
            <a:avLst/>
          </a:prstGeom>
          <a:noFill/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9" name="Google Shape;379;p11"/>
          <p:cNvSpPr/>
          <p:nvPr/>
        </p:nvSpPr>
        <p:spPr>
          <a:xfrm>
            <a:off x="502920" y="3493008"/>
            <a:ext cx="36576" cy="274320"/>
          </a:xfrm>
          <a:prstGeom prst="rect">
            <a:avLst/>
          </a:prstGeom>
          <a:solidFill>
            <a:srgbClr val="1A2AD4"/>
          </a:solidFill>
          <a:ln cap="flat" cmpd="sng" w="12700">
            <a:solidFill>
              <a:srgbClr val="1A2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1"/>
          <p:cNvSpPr/>
          <p:nvPr/>
        </p:nvSpPr>
        <p:spPr>
          <a:xfrm>
            <a:off x="640080" y="3511296"/>
            <a:ext cx="4846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900"/>
              <a:buFont typeface="Trebuchet MS"/>
              <a:buNone/>
            </a:pPr>
            <a:r>
              <a:rPr b="0" i="0" lang="en-US" sz="90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Login-based permissions are native to web apps</a:t>
            </a:r>
            <a:r>
              <a:rPr lang="en-US" sz="900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,</a:t>
            </a:r>
            <a:r>
              <a:rPr b="0" i="0" lang="en-US" sz="90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 complex and fragile in a .exe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1" name="Google Shape;381;p11"/>
          <p:cNvCxnSpPr/>
          <p:nvPr/>
        </p:nvCxnSpPr>
        <p:spPr>
          <a:xfrm>
            <a:off x="502920" y="3767328"/>
            <a:ext cx="5029200" cy="0"/>
          </a:xfrm>
          <a:prstGeom prst="straightConnector1">
            <a:avLst/>
          </a:prstGeom>
          <a:noFill/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2" name="Google Shape;382;p11"/>
          <p:cNvSpPr/>
          <p:nvPr/>
        </p:nvSpPr>
        <p:spPr>
          <a:xfrm>
            <a:off x="502920" y="3840480"/>
            <a:ext cx="36576" cy="274320"/>
          </a:xfrm>
          <a:prstGeom prst="rect">
            <a:avLst/>
          </a:prstGeom>
          <a:solidFill>
            <a:srgbClr val="1A2AD4"/>
          </a:solidFill>
          <a:ln cap="flat" cmpd="sng" w="12700">
            <a:solidFill>
              <a:srgbClr val="1A2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1"/>
          <p:cNvSpPr/>
          <p:nvPr/>
        </p:nvSpPr>
        <p:spPr>
          <a:xfrm>
            <a:off x="640080" y="3858768"/>
            <a:ext cx="4846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900"/>
              <a:buFont typeface="Trebuchet MS"/>
              <a:buNone/>
            </a:pPr>
            <a:r>
              <a:rPr b="0" i="0" lang="en-US" sz="90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Corporate IT at a large print group would block an unknown .exe entirely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4" name="Google Shape;384;p11"/>
          <p:cNvCxnSpPr/>
          <p:nvPr/>
        </p:nvCxnSpPr>
        <p:spPr>
          <a:xfrm>
            <a:off x="502920" y="4114800"/>
            <a:ext cx="5029200" cy="0"/>
          </a:xfrm>
          <a:prstGeom prst="straightConnector1">
            <a:avLst/>
          </a:prstGeom>
          <a:noFill/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5" name="Google Shape;385;p11"/>
          <p:cNvSpPr/>
          <p:nvPr/>
        </p:nvSpPr>
        <p:spPr>
          <a:xfrm>
            <a:off x="502920" y="4187952"/>
            <a:ext cx="36576" cy="274320"/>
          </a:xfrm>
          <a:prstGeom prst="rect">
            <a:avLst/>
          </a:prstGeom>
          <a:solidFill>
            <a:srgbClr val="1A2AD4"/>
          </a:solidFill>
          <a:ln cap="flat" cmpd="sng" w="12700">
            <a:solidFill>
              <a:srgbClr val="1A2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1"/>
          <p:cNvSpPr/>
          <p:nvPr/>
        </p:nvSpPr>
        <p:spPr>
          <a:xfrm>
            <a:off x="640080" y="4206240"/>
            <a:ext cx="4846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900"/>
              <a:buFont typeface="Trebuchet MS"/>
              <a:buNone/>
            </a:pPr>
            <a:r>
              <a:rPr b="0" i="0" lang="en-US" sz="90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Spreadsheet backend connects via web APIs</a:t>
            </a:r>
            <a:r>
              <a:rPr lang="en-US" sz="900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,</a:t>
            </a:r>
            <a:r>
              <a:rPr b="0" i="0" lang="en-US" sz="90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 no local file dependencies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7" name="Google Shape;387;p11"/>
          <p:cNvCxnSpPr/>
          <p:nvPr/>
        </p:nvCxnSpPr>
        <p:spPr>
          <a:xfrm>
            <a:off x="502920" y="4462272"/>
            <a:ext cx="5029200" cy="0"/>
          </a:xfrm>
          <a:prstGeom prst="straightConnector1">
            <a:avLst/>
          </a:prstGeom>
          <a:noFill/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8" name="Google Shape;388;p11"/>
          <p:cNvSpPr/>
          <p:nvPr/>
        </p:nvSpPr>
        <p:spPr>
          <a:xfrm>
            <a:off x="502920" y="4535424"/>
            <a:ext cx="36576" cy="274320"/>
          </a:xfrm>
          <a:prstGeom prst="rect">
            <a:avLst/>
          </a:prstGeom>
          <a:solidFill>
            <a:srgbClr val="1A2AD4"/>
          </a:solidFill>
          <a:ln cap="flat" cmpd="sng" w="12700">
            <a:solidFill>
              <a:srgbClr val="1A2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1"/>
          <p:cNvSpPr/>
          <p:nvPr/>
        </p:nvSpPr>
        <p:spPr>
          <a:xfrm>
            <a:off x="640080" y="4553712"/>
            <a:ext cx="4846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900"/>
              <a:buFont typeface="Trebuchet MS"/>
              <a:buNone/>
            </a:pPr>
            <a:r>
              <a:rPr b="0" i="0" lang="en-US" sz="90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Stage updates visible to all users instantly</a:t>
            </a:r>
            <a:r>
              <a:rPr lang="en-US" sz="900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,</a:t>
            </a:r>
            <a:r>
              <a:rPr b="0" i="0" lang="en-US" sz="90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 no syncing needed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0" name="Google Shape;390;p11"/>
          <p:cNvCxnSpPr/>
          <p:nvPr/>
        </p:nvCxnSpPr>
        <p:spPr>
          <a:xfrm>
            <a:off x="502920" y="4809744"/>
            <a:ext cx="5029200" cy="0"/>
          </a:xfrm>
          <a:prstGeom prst="straightConnector1">
            <a:avLst/>
          </a:prstGeom>
          <a:noFill/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391" name="Google Shape;39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5040" y="457200"/>
            <a:ext cx="306324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11"/>
          <p:cNvSpPr/>
          <p:nvPr/>
        </p:nvSpPr>
        <p:spPr>
          <a:xfrm>
            <a:off x="6035040" y="2743200"/>
            <a:ext cx="3063240" cy="1097280"/>
          </a:xfrm>
          <a:prstGeom prst="rect">
            <a:avLst/>
          </a:prstGeom>
          <a:solidFill>
            <a:srgbClr val="1A2AD4"/>
          </a:solidFill>
          <a:ln cap="flat" cmpd="sng" w="12700">
            <a:solidFill>
              <a:srgbClr val="1A2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1"/>
          <p:cNvSpPr/>
          <p:nvPr/>
        </p:nvSpPr>
        <p:spPr>
          <a:xfrm>
            <a:off x="6126480" y="2816352"/>
            <a:ext cx="2880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Trebuchet MS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BlkQuarry Recommendation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1"/>
          <p:cNvSpPr/>
          <p:nvPr/>
        </p:nvSpPr>
        <p:spPr>
          <a:xfrm>
            <a:off x="6126480" y="3090672"/>
            <a:ext cx="2880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E0FF"/>
              </a:buClr>
              <a:buSzPts val="800"/>
              <a:buFont typeface="Trebuchet MS"/>
              <a:buNone/>
            </a:pPr>
            <a:r>
              <a:rPr b="0" i="0" lang="en-US" sz="800" u="none" cap="none" strike="noStrike">
                <a:solidFill>
                  <a:srgbClr val="CCE0FF"/>
                </a:solidFill>
                <a:latin typeface="Trebuchet MS"/>
                <a:ea typeface="Trebuchet MS"/>
                <a:cs typeface="Trebuchet MS"/>
                <a:sym typeface="Trebuchet MS"/>
              </a:rPr>
              <a:t>The client's instinct was to request a desktop app. Walking through the deployment and permission implications during discovery resulted in a unanimous decision to go web.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5" name="Google Shape;395;p11"/>
          <p:cNvCxnSpPr/>
          <p:nvPr/>
        </p:nvCxnSpPr>
        <p:spPr>
          <a:xfrm>
            <a:off x="502920" y="4919472"/>
            <a:ext cx="8138160" cy="0"/>
          </a:xfrm>
          <a:prstGeom prst="straightConnector1">
            <a:avLst/>
          </a:prstGeom>
          <a:noFill/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6" name="Google Shape;396;p11"/>
          <p:cNvSpPr/>
          <p:nvPr/>
        </p:nvSpPr>
        <p:spPr>
          <a:xfrm>
            <a:off x="502920" y="4946904"/>
            <a:ext cx="4572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BA0"/>
              </a:buClr>
              <a:buSzPts val="750"/>
              <a:buFont typeface="Trebuchet MS"/>
              <a:buNone/>
            </a:pPr>
            <a:r>
              <a:rPr b="0" i="0" lang="en-US" sz="750" u="none" cap="none" strike="noStrike">
                <a:solidFill>
                  <a:srgbClr val="888BA0"/>
                </a:solidFill>
                <a:latin typeface="Trebuchet MS"/>
                <a:ea typeface="Trebuchet MS"/>
                <a:cs typeface="Trebuchet MS"/>
                <a:sym typeface="Trebuchet MS"/>
              </a:rPr>
              <a:t>BlkQuarry — Confidential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1"/>
          <p:cNvSpPr/>
          <p:nvPr/>
        </p:nvSpPr>
        <p:spPr>
          <a:xfrm>
            <a:off x="6492240" y="4946904"/>
            <a:ext cx="2148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BA0"/>
              </a:buClr>
              <a:buSzPts val="750"/>
              <a:buFont typeface="Trebuchet MS"/>
              <a:buNone/>
            </a:pPr>
            <a:r>
              <a:rPr b="0" i="0" lang="en-US" sz="750" u="none" cap="none" strike="noStrike">
                <a:solidFill>
                  <a:srgbClr val="888BA0"/>
                </a:solidFill>
                <a:latin typeface="Trebuchet MS"/>
                <a:ea typeface="Trebuchet MS"/>
                <a:cs typeface="Trebuchet MS"/>
                <a:sym typeface="Trebuchet MS"/>
              </a:rPr>
              <a:t>blkquarry.com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F2F3F6"/>
          </a:solidFill>
          <a:ln cap="flat" cmpd="sng" w="12700">
            <a:solidFill>
              <a:srgbClr val="F2F3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2"/>
          <p:cNvSpPr/>
          <p:nvPr/>
        </p:nvSpPr>
        <p:spPr>
          <a:xfrm>
            <a:off x="502920" y="658368"/>
            <a:ext cx="960120" cy="43891"/>
          </a:xfrm>
          <a:prstGeom prst="rect">
            <a:avLst/>
          </a:prstGeom>
          <a:solidFill>
            <a:srgbClr val="0A0F4F"/>
          </a:solidFill>
          <a:ln cap="flat" cmpd="sng" w="12700">
            <a:solidFill>
              <a:srgbClr val="0A0F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2"/>
          <p:cNvSpPr/>
          <p:nvPr/>
        </p:nvSpPr>
        <p:spPr>
          <a:xfrm>
            <a:off x="1463040" y="658368"/>
            <a:ext cx="438912" cy="43891"/>
          </a:xfrm>
          <a:prstGeom prst="rect">
            <a:avLst/>
          </a:prstGeom>
          <a:solidFill>
            <a:srgbClr val="1A2AD4"/>
          </a:solidFill>
          <a:ln cap="flat" cmpd="sng" w="12700">
            <a:solidFill>
              <a:srgbClr val="1A2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2"/>
          <p:cNvSpPr/>
          <p:nvPr/>
        </p:nvSpPr>
        <p:spPr>
          <a:xfrm>
            <a:off x="502920" y="749808"/>
            <a:ext cx="7315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Risk Register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7" name="Google Shape;407;p12"/>
          <p:cNvCxnSpPr/>
          <p:nvPr/>
        </p:nvCxnSpPr>
        <p:spPr>
          <a:xfrm>
            <a:off x="502920" y="4919472"/>
            <a:ext cx="8138160" cy="0"/>
          </a:xfrm>
          <a:prstGeom prst="straightConnector1">
            <a:avLst/>
          </a:prstGeom>
          <a:noFill/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8" name="Google Shape;408;p12"/>
          <p:cNvSpPr/>
          <p:nvPr/>
        </p:nvSpPr>
        <p:spPr>
          <a:xfrm>
            <a:off x="502920" y="4946904"/>
            <a:ext cx="4572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BA0"/>
              </a:buClr>
              <a:buSzPts val="750"/>
              <a:buFont typeface="Trebuchet MS"/>
              <a:buNone/>
            </a:pPr>
            <a:r>
              <a:rPr b="0" i="0" lang="en-US" sz="750" u="none" cap="none" strike="noStrike">
                <a:solidFill>
                  <a:srgbClr val="888BA0"/>
                </a:solidFill>
                <a:latin typeface="Trebuchet MS"/>
                <a:ea typeface="Trebuchet MS"/>
                <a:cs typeface="Trebuchet MS"/>
                <a:sym typeface="Trebuchet MS"/>
              </a:rPr>
              <a:t>BlkQuarry — Confidential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2"/>
          <p:cNvSpPr/>
          <p:nvPr/>
        </p:nvSpPr>
        <p:spPr>
          <a:xfrm>
            <a:off x="6492240" y="4946904"/>
            <a:ext cx="2148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BA0"/>
              </a:buClr>
              <a:buSzPts val="750"/>
              <a:buFont typeface="Trebuchet MS"/>
              <a:buNone/>
            </a:pPr>
            <a:r>
              <a:rPr b="0" i="0" lang="en-US" sz="750" u="none" cap="none" strike="noStrike">
                <a:solidFill>
                  <a:srgbClr val="888BA0"/>
                </a:solidFill>
                <a:latin typeface="Trebuchet MS"/>
                <a:ea typeface="Trebuchet MS"/>
                <a:cs typeface="Trebuchet MS"/>
                <a:sym typeface="Trebuchet MS"/>
              </a:rPr>
              <a:t>blkquarry.com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2"/>
          <p:cNvSpPr/>
          <p:nvPr/>
        </p:nvSpPr>
        <p:spPr>
          <a:xfrm>
            <a:off x="365760" y="1389888"/>
            <a:ext cx="2743200" cy="274320"/>
          </a:xfrm>
          <a:prstGeom prst="rect">
            <a:avLst/>
          </a:prstGeom>
          <a:solidFill>
            <a:srgbClr val="0A0F4F"/>
          </a:solidFill>
          <a:ln cap="flat" cmpd="sng" w="12700">
            <a:solidFill>
              <a:srgbClr val="0A0F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2"/>
          <p:cNvSpPr/>
          <p:nvPr/>
        </p:nvSpPr>
        <p:spPr>
          <a:xfrm>
            <a:off x="438912" y="1389888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BA0"/>
              </a:buClr>
              <a:buSzPts val="750"/>
              <a:buFont typeface="Trebuchet MS"/>
              <a:buNone/>
            </a:pPr>
            <a:r>
              <a:rPr b="1" i="0" lang="en-US" sz="750" u="none" cap="none" strike="noStrike">
                <a:solidFill>
                  <a:srgbClr val="888BA0"/>
                </a:solidFill>
                <a:latin typeface="Trebuchet MS"/>
                <a:ea typeface="Trebuchet MS"/>
                <a:cs typeface="Trebuchet MS"/>
                <a:sym typeface="Trebuchet MS"/>
              </a:rPr>
              <a:t>RISK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2"/>
          <p:cNvSpPr/>
          <p:nvPr/>
        </p:nvSpPr>
        <p:spPr>
          <a:xfrm>
            <a:off x="3154680" y="1389888"/>
            <a:ext cx="960120" cy="274320"/>
          </a:xfrm>
          <a:prstGeom prst="rect">
            <a:avLst/>
          </a:prstGeom>
          <a:solidFill>
            <a:srgbClr val="0A0F4F"/>
          </a:solidFill>
          <a:ln cap="flat" cmpd="sng" w="12700">
            <a:solidFill>
              <a:srgbClr val="0A0F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2"/>
          <p:cNvSpPr/>
          <p:nvPr/>
        </p:nvSpPr>
        <p:spPr>
          <a:xfrm>
            <a:off x="3227832" y="1389888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BA0"/>
              </a:buClr>
              <a:buSzPts val="750"/>
              <a:buFont typeface="Trebuchet MS"/>
              <a:buNone/>
            </a:pPr>
            <a:r>
              <a:rPr b="1" i="0" lang="en-US" sz="750" u="none" cap="none" strike="noStrike">
                <a:solidFill>
                  <a:srgbClr val="888BA0"/>
                </a:solidFill>
                <a:latin typeface="Trebuchet MS"/>
                <a:ea typeface="Trebuchet MS"/>
                <a:cs typeface="Trebuchet MS"/>
                <a:sym typeface="Trebuchet MS"/>
              </a:rPr>
              <a:t>PROB.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2"/>
          <p:cNvSpPr/>
          <p:nvPr/>
        </p:nvSpPr>
        <p:spPr>
          <a:xfrm>
            <a:off x="4160520" y="1389888"/>
            <a:ext cx="960120" cy="274320"/>
          </a:xfrm>
          <a:prstGeom prst="rect">
            <a:avLst/>
          </a:prstGeom>
          <a:solidFill>
            <a:srgbClr val="0A0F4F"/>
          </a:solidFill>
          <a:ln cap="flat" cmpd="sng" w="12700">
            <a:solidFill>
              <a:srgbClr val="0A0F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2"/>
          <p:cNvSpPr/>
          <p:nvPr/>
        </p:nvSpPr>
        <p:spPr>
          <a:xfrm>
            <a:off x="4233672" y="1389888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BA0"/>
              </a:buClr>
              <a:buSzPts val="750"/>
              <a:buFont typeface="Trebuchet MS"/>
              <a:buNone/>
            </a:pPr>
            <a:r>
              <a:rPr b="1" i="0" lang="en-US" sz="750" u="none" cap="none" strike="noStrike">
                <a:solidFill>
                  <a:srgbClr val="888BA0"/>
                </a:solidFill>
                <a:latin typeface="Trebuchet MS"/>
                <a:ea typeface="Trebuchet MS"/>
                <a:cs typeface="Trebuchet MS"/>
                <a:sym typeface="Trebuchet MS"/>
              </a:rPr>
              <a:t>IMPACT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2"/>
          <p:cNvSpPr/>
          <p:nvPr/>
        </p:nvSpPr>
        <p:spPr>
          <a:xfrm>
            <a:off x="5166360" y="1389888"/>
            <a:ext cx="2926080" cy="274320"/>
          </a:xfrm>
          <a:prstGeom prst="rect">
            <a:avLst/>
          </a:prstGeom>
          <a:solidFill>
            <a:srgbClr val="0A0F4F"/>
          </a:solidFill>
          <a:ln cap="flat" cmpd="sng" w="12700">
            <a:solidFill>
              <a:srgbClr val="0A0F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2"/>
          <p:cNvSpPr/>
          <p:nvPr/>
        </p:nvSpPr>
        <p:spPr>
          <a:xfrm>
            <a:off x="5239512" y="1389888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BA0"/>
              </a:buClr>
              <a:buSzPts val="750"/>
              <a:buFont typeface="Trebuchet MS"/>
              <a:buNone/>
            </a:pPr>
            <a:r>
              <a:rPr b="1" i="0" lang="en-US" sz="750" u="none" cap="none" strike="noStrike">
                <a:solidFill>
                  <a:srgbClr val="888BA0"/>
                </a:solidFill>
                <a:latin typeface="Trebuchet MS"/>
                <a:ea typeface="Trebuchet MS"/>
                <a:cs typeface="Trebuchet MS"/>
                <a:sym typeface="Trebuchet MS"/>
              </a:rPr>
              <a:t>MITIGATION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2"/>
          <p:cNvSpPr/>
          <p:nvPr/>
        </p:nvSpPr>
        <p:spPr>
          <a:xfrm>
            <a:off x="8138160" y="1389888"/>
            <a:ext cx="640080" cy="274320"/>
          </a:xfrm>
          <a:prstGeom prst="rect">
            <a:avLst/>
          </a:prstGeom>
          <a:solidFill>
            <a:srgbClr val="0A0F4F"/>
          </a:solidFill>
          <a:ln cap="flat" cmpd="sng" w="12700">
            <a:solidFill>
              <a:srgbClr val="0A0F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2"/>
          <p:cNvSpPr/>
          <p:nvPr/>
        </p:nvSpPr>
        <p:spPr>
          <a:xfrm>
            <a:off x="8211312" y="138988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BA0"/>
              </a:buClr>
              <a:buSzPts val="750"/>
              <a:buFont typeface="Trebuchet MS"/>
              <a:buNone/>
            </a:pPr>
            <a:r>
              <a:rPr b="1" i="0" lang="en-US" sz="750" u="none" cap="none" strike="noStrike">
                <a:solidFill>
                  <a:srgbClr val="888BA0"/>
                </a:solidFill>
                <a:latin typeface="Trebuchet MS"/>
                <a:ea typeface="Trebuchet MS"/>
                <a:cs typeface="Trebuchet MS"/>
                <a:sym typeface="Trebuchet MS"/>
              </a:rPr>
              <a:t>STATUS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2"/>
          <p:cNvSpPr/>
          <p:nvPr/>
        </p:nvSpPr>
        <p:spPr>
          <a:xfrm>
            <a:off x="365760" y="1700784"/>
            <a:ext cx="2743200" cy="6035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2"/>
          <p:cNvSpPr/>
          <p:nvPr/>
        </p:nvSpPr>
        <p:spPr>
          <a:xfrm>
            <a:off x="3154680" y="1700784"/>
            <a:ext cx="960120" cy="6035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2"/>
          <p:cNvSpPr/>
          <p:nvPr/>
        </p:nvSpPr>
        <p:spPr>
          <a:xfrm>
            <a:off x="4160520" y="1700784"/>
            <a:ext cx="960120" cy="6035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2"/>
          <p:cNvSpPr/>
          <p:nvPr/>
        </p:nvSpPr>
        <p:spPr>
          <a:xfrm>
            <a:off x="5166360" y="1700784"/>
            <a:ext cx="2926080" cy="6035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2"/>
          <p:cNvSpPr/>
          <p:nvPr/>
        </p:nvSpPr>
        <p:spPr>
          <a:xfrm>
            <a:off x="8138160" y="1700784"/>
            <a:ext cx="640080" cy="6035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2"/>
          <p:cNvSpPr/>
          <p:nvPr/>
        </p:nvSpPr>
        <p:spPr>
          <a:xfrm>
            <a:off x="438912" y="1773936"/>
            <a:ext cx="259689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850"/>
              <a:buFont typeface="Trebuchet MS"/>
              <a:buNone/>
            </a:pPr>
            <a:r>
              <a:rPr b="0" i="0" lang="en-US" sz="85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User accidentally views or edits another person's jobs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2"/>
          <p:cNvSpPr/>
          <p:nvPr/>
        </p:nvSpPr>
        <p:spPr>
          <a:xfrm>
            <a:off x="3236976" y="1892808"/>
            <a:ext cx="822960" cy="21945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8A5A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2"/>
          <p:cNvSpPr/>
          <p:nvPr/>
        </p:nvSpPr>
        <p:spPr>
          <a:xfrm>
            <a:off x="3236976" y="1892808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5A00"/>
              </a:buClr>
              <a:buSzPts val="800"/>
              <a:buFont typeface="Trebuchet MS"/>
              <a:buNone/>
            </a:pPr>
            <a:r>
              <a:rPr b="1" i="0" lang="en-US" sz="800" u="none" cap="none" strike="noStrike">
                <a:solidFill>
                  <a:srgbClr val="8A5A00"/>
                </a:solidFill>
                <a:latin typeface="Trebuchet MS"/>
                <a:ea typeface="Trebuchet MS"/>
                <a:cs typeface="Trebuchet MS"/>
                <a:sym typeface="Trebuchet MS"/>
              </a:rPr>
              <a:t>Med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2"/>
          <p:cNvSpPr/>
          <p:nvPr/>
        </p:nvSpPr>
        <p:spPr>
          <a:xfrm>
            <a:off x="4242816" y="1892808"/>
            <a:ext cx="822960" cy="21945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B520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2"/>
          <p:cNvSpPr/>
          <p:nvPr/>
        </p:nvSpPr>
        <p:spPr>
          <a:xfrm>
            <a:off x="4242816" y="1892808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200D"/>
              </a:buClr>
              <a:buSzPts val="800"/>
              <a:buFont typeface="Trebuchet MS"/>
              <a:buNone/>
            </a:pPr>
            <a:r>
              <a:rPr b="1" i="0" lang="en-US" sz="800" u="none" cap="none" strike="noStrike">
                <a:solidFill>
                  <a:srgbClr val="B5200D"/>
                </a:solidFill>
                <a:latin typeface="Trebuchet MS"/>
                <a:ea typeface="Trebuchet MS"/>
                <a:cs typeface="Trebuchet MS"/>
                <a:sym typeface="Trebuchet MS"/>
              </a:rPr>
              <a:t>High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2"/>
          <p:cNvSpPr/>
          <p:nvPr/>
        </p:nvSpPr>
        <p:spPr>
          <a:xfrm>
            <a:off x="5239512" y="1755648"/>
            <a:ext cx="277977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800"/>
              <a:buFont typeface="Trebuchet MS"/>
              <a:buNone/>
            </a:pPr>
            <a:r>
              <a:rPr b="0" i="0" lang="en-US" sz="80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User scoping enforced at query level</a:t>
            </a:r>
            <a:r>
              <a:rPr lang="en-US" sz="800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,</a:t>
            </a:r>
            <a:r>
              <a:rPr b="0" i="0" lang="en-US" sz="80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 each login only retrieves own records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2"/>
          <p:cNvSpPr/>
          <p:nvPr/>
        </p:nvSpPr>
        <p:spPr>
          <a:xfrm>
            <a:off x="8165592" y="1892808"/>
            <a:ext cx="566928" cy="201168"/>
          </a:xfrm>
          <a:prstGeom prst="rect">
            <a:avLst/>
          </a:prstGeom>
          <a:solidFill>
            <a:srgbClr val="EDF5F1"/>
          </a:solidFill>
          <a:ln cap="flat" cmpd="sng" w="9525">
            <a:solidFill>
              <a:srgbClr val="0D6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2"/>
          <p:cNvSpPr/>
          <p:nvPr/>
        </p:nvSpPr>
        <p:spPr>
          <a:xfrm>
            <a:off x="8165592" y="1892808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6B3A"/>
              </a:buClr>
              <a:buSzPts val="750"/>
              <a:buFont typeface="Trebuchet MS"/>
              <a:buNone/>
            </a:pPr>
            <a:r>
              <a:rPr b="1" i="0" lang="en-US" sz="750" u="none" cap="none" strike="noStrike">
                <a:solidFill>
                  <a:srgbClr val="0D6B3A"/>
                </a:solidFill>
                <a:latin typeface="Trebuchet MS"/>
                <a:ea typeface="Trebuchet MS"/>
                <a:cs typeface="Trebuchet MS"/>
                <a:sym typeface="Trebuchet MS"/>
              </a:rPr>
              <a:t>Done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2"/>
          <p:cNvSpPr/>
          <p:nvPr/>
        </p:nvSpPr>
        <p:spPr>
          <a:xfrm>
            <a:off x="365760" y="2340864"/>
            <a:ext cx="2743200" cy="603504"/>
          </a:xfrm>
          <a:prstGeom prst="rect">
            <a:avLst/>
          </a:prstGeom>
          <a:solidFill>
            <a:srgbClr val="F2F3F6"/>
          </a:solidFill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2"/>
          <p:cNvSpPr/>
          <p:nvPr/>
        </p:nvSpPr>
        <p:spPr>
          <a:xfrm>
            <a:off x="3154680" y="2340864"/>
            <a:ext cx="960120" cy="603504"/>
          </a:xfrm>
          <a:prstGeom prst="rect">
            <a:avLst/>
          </a:prstGeom>
          <a:solidFill>
            <a:srgbClr val="F2F3F6"/>
          </a:solidFill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2"/>
          <p:cNvSpPr/>
          <p:nvPr/>
        </p:nvSpPr>
        <p:spPr>
          <a:xfrm>
            <a:off x="4160520" y="2340864"/>
            <a:ext cx="960120" cy="603504"/>
          </a:xfrm>
          <a:prstGeom prst="rect">
            <a:avLst/>
          </a:prstGeom>
          <a:solidFill>
            <a:srgbClr val="F2F3F6"/>
          </a:solidFill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2"/>
          <p:cNvSpPr/>
          <p:nvPr/>
        </p:nvSpPr>
        <p:spPr>
          <a:xfrm>
            <a:off x="5166360" y="2340864"/>
            <a:ext cx="2926080" cy="603504"/>
          </a:xfrm>
          <a:prstGeom prst="rect">
            <a:avLst/>
          </a:prstGeom>
          <a:solidFill>
            <a:srgbClr val="F2F3F6"/>
          </a:solidFill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2"/>
          <p:cNvSpPr/>
          <p:nvPr/>
        </p:nvSpPr>
        <p:spPr>
          <a:xfrm>
            <a:off x="8138160" y="2340864"/>
            <a:ext cx="640080" cy="603504"/>
          </a:xfrm>
          <a:prstGeom prst="rect">
            <a:avLst/>
          </a:prstGeom>
          <a:solidFill>
            <a:srgbClr val="F2F3F6"/>
          </a:solidFill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2"/>
          <p:cNvSpPr/>
          <p:nvPr/>
        </p:nvSpPr>
        <p:spPr>
          <a:xfrm>
            <a:off x="438912" y="2414016"/>
            <a:ext cx="259689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850"/>
              <a:buFont typeface="Trebuchet MS"/>
              <a:buNone/>
            </a:pPr>
            <a:r>
              <a:rPr b="0" i="0" lang="en-US" sz="85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Inconsistent job data via free-text fields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2"/>
          <p:cNvSpPr/>
          <p:nvPr/>
        </p:nvSpPr>
        <p:spPr>
          <a:xfrm>
            <a:off x="3236976" y="2532888"/>
            <a:ext cx="822960" cy="21945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B520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2"/>
          <p:cNvSpPr/>
          <p:nvPr/>
        </p:nvSpPr>
        <p:spPr>
          <a:xfrm>
            <a:off x="3236976" y="2532888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200D"/>
              </a:buClr>
              <a:buSzPts val="800"/>
              <a:buFont typeface="Trebuchet MS"/>
              <a:buNone/>
            </a:pPr>
            <a:r>
              <a:rPr b="1" i="0" lang="en-US" sz="800" u="none" cap="none" strike="noStrike">
                <a:solidFill>
                  <a:srgbClr val="B5200D"/>
                </a:solidFill>
                <a:latin typeface="Trebuchet MS"/>
                <a:ea typeface="Trebuchet MS"/>
                <a:cs typeface="Trebuchet MS"/>
                <a:sym typeface="Trebuchet MS"/>
              </a:rPr>
              <a:t>High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2"/>
          <p:cNvSpPr/>
          <p:nvPr/>
        </p:nvSpPr>
        <p:spPr>
          <a:xfrm>
            <a:off x="4242816" y="2532888"/>
            <a:ext cx="822960" cy="21945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8A5A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2"/>
          <p:cNvSpPr/>
          <p:nvPr/>
        </p:nvSpPr>
        <p:spPr>
          <a:xfrm>
            <a:off x="4242816" y="2532888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5A00"/>
              </a:buClr>
              <a:buSzPts val="800"/>
              <a:buFont typeface="Trebuchet MS"/>
              <a:buNone/>
            </a:pPr>
            <a:r>
              <a:rPr b="1" i="0" lang="en-US" sz="800" u="none" cap="none" strike="noStrike">
                <a:solidFill>
                  <a:srgbClr val="8A5A00"/>
                </a:solidFill>
                <a:latin typeface="Trebuchet MS"/>
                <a:ea typeface="Trebuchet MS"/>
                <a:cs typeface="Trebuchet MS"/>
                <a:sym typeface="Trebuchet MS"/>
              </a:rPr>
              <a:t>Med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2"/>
          <p:cNvSpPr/>
          <p:nvPr/>
        </p:nvSpPr>
        <p:spPr>
          <a:xfrm>
            <a:off x="5239512" y="2395728"/>
            <a:ext cx="277977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800"/>
              <a:buFont typeface="Trebuchet MS"/>
              <a:buNone/>
            </a:pPr>
            <a:r>
              <a:rPr b="0" i="0" lang="en-US" sz="80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Intake form uses dropdowns for all key fields</a:t>
            </a:r>
            <a:r>
              <a:rPr lang="en-US" sz="800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,</a:t>
            </a:r>
            <a:r>
              <a:rPr b="0" i="0" lang="en-US" sz="80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 free text only where unavoidable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2"/>
          <p:cNvSpPr/>
          <p:nvPr/>
        </p:nvSpPr>
        <p:spPr>
          <a:xfrm>
            <a:off x="8165592" y="2532888"/>
            <a:ext cx="566928" cy="201168"/>
          </a:xfrm>
          <a:prstGeom prst="rect">
            <a:avLst/>
          </a:prstGeom>
          <a:solidFill>
            <a:srgbClr val="EDF5F1"/>
          </a:solidFill>
          <a:ln cap="flat" cmpd="sng" w="9525">
            <a:solidFill>
              <a:srgbClr val="0D6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2"/>
          <p:cNvSpPr/>
          <p:nvPr/>
        </p:nvSpPr>
        <p:spPr>
          <a:xfrm>
            <a:off x="8165592" y="2532888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6B3A"/>
              </a:buClr>
              <a:buSzPts val="750"/>
              <a:buFont typeface="Trebuchet MS"/>
              <a:buNone/>
            </a:pPr>
            <a:r>
              <a:rPr b="1" i="0" lang="en-US" sz="750" u="none" cap="none" strike="noStrike">
                <a:solidFill>
                  <a:srgbClr val="0D6B3A"/>
                </a:solidFill>
                <a:latin typeface="Trebuchet MS"/>
                <a:ea typeface="Trebuchet MS"/>
                <a:cs typeface="Trebuchet MS"/>
                <a:sym typeface="Trebuchet MS"/>
              </a:rPr>
              <a:t>Done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2"/>
          <p:cNvSpPr/>
          <p:nvPr/>
        </p:nvSpPr>
        <p:spPr>
          <a:xfrm>
            <a:off x="365760" y="2980944"/>
            <a:ext cx="2743200" cy="6035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2"/>
          <p:cNvSpPr/>
          <p:nvPr/>
        </p:nvSpPr>
        <p:spPr>
          <a:xfrm>
            <a:off x="3154680" y="2980944"/>
            <a:ext cx="960120" cy="6035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2"/>
          <p:cNvSpPr/>
          <p:nvPr/>
        </p:nvSpPr>
        <p:spPr>
          <a:xfrm>
            <a:off x="4160520" y="2980944"/>
            <a:ext cx="960120" cy="6035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2"/>
          <p:cNvSpPr/>
          <p:nvPr/>
        </p:nvSpPr>
        <p:spPr>
          <a:xfrm>
            <a:off x="5166360" y="2980944"/>
            <a:ext cx="2926080" cy="6035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2"/>
          <p:cNvSpPr/>
          <p:nvPr/>
        </p:nvSpPr>
        <p:spPr>
          <a:xfrm>
            <a:off x="8138160" y="2980944"/>
            <a:ext cx="640080" cy="6035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2"/>
          <p:cNvSpPr/>
          <p:nvPr/>
        </p:nvSpPr>
        <p:spPr>
          <a:xfrm>
            <a:off x="438912" y="3054096"/>
            <a:ext cx="259689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850"/>
              <a:buFont typeface="Trebuchet MS"/>
              <a:buNone/>
            </a:pPr>
            <a:r>
              <a:rPr b="0" i="0" lang="en-US" sz="85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KAM loses visibility when staff forget to update stage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2"/>
          <p:cNvSpPr/>
          <p:nvPr/>
        </p:nvSpPr>
        <p:spPr>
          <a:xfrm>
            <a:off x="3236976" y="3172968"/>
            <a:ext cx="822960" cy="21945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8A5A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2"/>
          <p:cNvSpPr/>
          <p:nvPr/>
        </p:nvSpPr>
        <p:spPr>
          <a:xfrm>
            <a:off x="3236976" y="3172968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5A00"/>
              </a:buClr>
              <a:buSzPts val="800"/>
              <a:buFont typeface="Trebuchet MS"/>
              <a:buNone/>
            </a:pPr>
            <a:r>
              <a:rPr b="1" i="0" lang="en-US" sz="800" u="none" cap="none" strike="noStrike">
                <a:solidFill>
                  <a:srgbClr val="8A5A00"/>
                </a:solidFill>
                <a:latin typeface="Trebuchet MS"/>
                <a:ea typeface="Trebuchet MS"/>
                <a:cs typeface="Trebuchet MS"/>
                <a:sym typeface="Trebuchet MS"/>
              </a:rPr>
              <a:t>Med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2"/>
          <p:cNvSpPr/>
          <p:nvPr/>
        </p:nvSpPr>
        <p:spPr>
          <a:xfrm>
            <a:off x="4242816" y="3172968"/>
            <a:ext cx="822960" cy="21945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8A5A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2"/>
          <p:cNvSpPr/>
          <p:nvPr/>
        </p:nvSpPr>
        <p:spPr>
          <a:xfrm>
            <a:off x="4242816" y="3172968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5A00"/>
              </a:buClr>
              <a:buSzPts val="800"/>
              <a:buFont typeface="Trebuchet MS"/>
              <a:buNone/>
            </a:pPr>
            <a:r>
              <a:rPr b="1" i="0" lang="en-US" sz="800" u="none" cap="none" strike="noStrike">
                <a:solidFill>
                  <a:srgbClr val="8A5A00"/>
                </a:solidFill>
                <a:latin typeface="Trebuchet MS"/>
                <a:ea typeface="Trebuchet MS"/>
                <a:cs typeface="Trebuchet MS"/>
                <a:sym typeface="Trebuchet MS"/>
              </a:rPr>
              <a:t>Med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2"/>
          <p:cNvSpPr/>
          <p:nvPr/>
        </p:nvSpPr>
        <p:spPr>
          <a:xfrm>
            <a:off x="5239512" y="3035808"/>
            <a:ext cx="277977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800"/>
              <a:buFont typeface="Trebuchet MS"/>
              <a:buNone/>
            </a:pPr>
            <a:r>
              <a:rPr b="0" i="0" lang="en-US" sz="80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Dashboard flags stale jobs beyond a defined threshold; addressed in training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2"/>
          <p:cNvSpPr/>
          <p:nvPr/>
        </p:nvSpPr>
        <p:spPr>
          <a:xfrm>
            <a:off x="8165592" y="3172968"/>
            <a:ext cx="566928" cy="201168"/>
          </a:xfrm>
          <a:prstGeom prst="rect">
            <a:avLst/>
          </a:prstGeom>
          <a:solidFill>
            <a:srgbClr val="EDF5F1"/>
          </a:solidFill>
          <a:ln cap="flat" cmpd="sng" w="9525">
            <a:solidFill>
              <a:srgbClr val="0D6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2"/>
          <p:cNvSpPr/>
          <p:nvPr/>
        </p:nvSpPr>
        <p:spPr>
          <a:xfrm>
            <a:off x="8165592" y="3172968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6B3A"/>
              </a:buClr>
              <a:buSzPts val="750"/>
              <a:buFont typeface="Trebuchet MS"/>
              <a:buNone/>
            </a:pPr>
            <a:r>
              <a:rPr b="1" i="0" lang="en-US" sz="750" u="none" cap="none" strike="noStrike">
                <a:solidFill>
                  <a:srgbClr val="0D6B3A"/>
                </a:solidFill>
                <a:latin typeface="Trebuchet MS"/>
                <a:ea typeface="Trebuchet MS"/>
                <a:cs typeface="Trebuchet MS"/>
                <a:sym typeface="Trebuchet MS"/>
              </a:rPr>
              <a:t>Done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2"/>
          <p:cNvSpPr/>
          <p:nvPr/>
        </p:nvSpPr>
        <p:spPr>
          <a:xfrm>
            <a:off x="365760" y="3621024"/>
            <a:ext cx="2743200" cy="603504"/>
          </a:xfrm>
          <a:prstGeom prst="rect">
            <a:avLst/>
          </a:prstGeom>
          <a:solidFill>
            <a:srgbClr val="F2F3F6"/>
          </a:solidFill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2"/>
          <p:cNvSpPr/>
          <p:nvPr/>
        </p:nvSpPr>
        <p:spPr>
          <a:xfrm>
            <a:off x="3154680" y="3621024"/>
            <a:ext cx="960120" cy="603504"/>
          </a:xfrm>
          <a:prstGeom prst="rect">
            <a:avLst/>
          </a:prstGeom>
          <a:solidFill>
            <a:srgbClr val="F2F3F6"/>
          </a:solidFill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2"/>
          <p:cNvSpPr/>
          <p:nvPr/>
        </p:nvSpPr>
        <p:spPr>
          <a:xfrm>
            <a:off x="4160520" y="3621024"/>
            <a:ext cx="960120" cy="603504"/>
          </a:xfrm>
          <a:prstGeom prst="rect">
            <a:avLst/>
          </a:prstGeom>
          <a:solidFill>
            <a:srgbClr val="F2F3F6"/>
          </a:solidFill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2"/>
          <p:cNvSpPr/>
          <p:nvPr/>
        </p:nvSpPr>
        <p:spPr>
          <a:xfrm>
            <a:off x="5166360" y="3621024"/>
            <a:ext cx="2926080" cy="603504"/>
          </a:xfrm>
          <a:prstGeom prst="rect">
            <a:avLst/>
          </a:prstGeom>
          <a:solidFill>
            <a:srgbClr val="F2F3F6"/>
          </a:solidFill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2"/>
          <p:cNvSpPr/>
          <p:nvPr/>
        </p:nvSpPr>
        <p:spPr>
          <a:xfrm>
            <a:off x="8138160" y="3621024"/>
            <a:ext cx="640080" cy="603504"/>
          </a:xfrm>
          <a:prstGeom prst="rect">
            <a:avLst/>
          </a:prstGeom>
          <a:solidFill>
            <a:srgbClr val="F2F3F6"/>
          </a:solidFill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2"/>
          <p:cNvSpPr/>
          <p:nvPr/>
        </p:nvSpPr>
        <p:spPr>
          <a:xfrm>
            <a:off x="438912" y="3694176"/>
            <a:ext cx="259689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850"/>
              <a:buFont typeface="Trebuchet MS"/>
              <a:buNone/>
            </a:pPr>
            <a:r>
              <a:rPr b="0" i="0" lang="en-US" sz="85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Spreadsheet backend corrupted or overwritten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2"/>
          <p:cNvSpPr/>
          <p:nvPr/>
        </p:nvSpPr>
        <p:spPr>
          <a:xfrm>
            <a:off x="3236976" y="3813048"/>
            <a:ext cx="822960" cy="21945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0D6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2"/>
          <p:cNvSpPr/>
          <p:nvPr/>
        </p:nvSpPr>
        <p:spPr>
          <a:xfrm>
            <a:off x="3236976" y="3813048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6B3A"/>
              </a:buClr>
              <a:buSzPts val="800"/>
              <a:buFont typeface="Trebuchet MS"/>
              <a:buNone/>
            </a:pPr>
            <a:r>
              <a:rPr b="1" i="0" lang="en-US" sz="800" u="none" cap="none" strike="noStrike">
                <a:solidFill>
                  <a:srgbClr val="0D6B3A"/>
                </a:solidFill>
                <a:latin typeface="Trebuchet MS"/>
                <a:ea typeface="Trebuchet MS"/>
                <a:cs typeface="Trebuchet MS"/>
                <a:sym typeface="Trebuchet MS"/>
              </a:rPr>
              <a:t>Low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2"/>
          <p:cNvSpPr/>
          <p:nvPr/>
        </p:nvSpPr>
        <p:spPr>
          <a:xfrm>
            <a:off x="4242816" y="3813048"/>
            <a:ext cx="822960" cy="21945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B520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2"/>
          <p:cNvSpPr/>
          <p:nvPr/>
        </p:nvSpPr>
        <p:spPr>
          <a:xfrm>
            <a:off x="4242816" y="3813048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200D"/>
              </a:buClr>
              <a:buSzPts val="800"/>
              <a:buFont typeface="Trebuchet MS"/>
              <a:buNone/>
            </a:pPr>
            <a:r>
              <a:rPr b="1" i="0" lang="en-US" sz="800" u="none" cap="none" strike="noStrike">
                <a:solidFill>
                  <a:srgbClr val="B5200D"/>
                </a:solidFill>
                <a:latin typeface="Trebuchet MS"/>
                <a:ea typeface="Trebuchet MS"/>
                <a:cs typeface="Trebuchet MS"/>
                <a:sym typeface="Trebuchet MS"/>
              </a:rPr>
              <a:t>High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2"/>
          <p:cNvSpPr/>
          <p:nvPr/>
        </p:nvSpPr>
        <p:spPr>
          <a:xfrm>
            <a:off x="5239512" y="3675888"/>
            <a:ext cx="277977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800"/>
              <a:buFont typeface="Trebuchet MS"/>
              <a:buNone/>
            </a:pPr>
            <a:r>
              <a:rPr b="0" i="0" lang="en-US" sz="80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App writes via API calls only</a:t>
            </a:r>
            <a:r>
              <a:rPr lang="en-US" sz="800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,</a:t>
            </a:r>
            <a:r>
              <a:rPr b="0" i="0" lang="en-US" sz="80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 direct editing blocked; version history retained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2"/>
          <p:cNvSpPr/>
          <p:nvPr/>
        </p:nvSpPr>
        <p:spPr>
          <a:xfrm>
            <a:off x="8165592" y="3813048"/>
            <a:ext cx="566928" cy="201168"/>
          </a:xfrm>
          <a:prstGeom prst="rect">
            <a:avLst/>
          </a:prstGeom>
          <a:solidFill>
            <a:srgbClr val="EDF5F1"/>
          </a:solidFill>
          <a:ln cap="flat" cmpd="sng" w="9525">
            <a:solidFill>
              <a:srgbClr val="0D6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2"/>
          <p:cNvSpPr/>
          <p:nvPr/>
        </p:nvSpPr>
        <p:spPr>
          <a:xfrm>
            <a:off x="8165592" y="3813048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6B3A"/>
              </a:buClr>
              <a:buSzPts val="750"/>
              <a:buFont typeface="Trebuchet MS"/>
              <a:buNone/>
            </a:pPr>
            <a:r>
              <a:rPr b="1" i="0" lang="en-US" sz="750" u="none" cap="none" strike="noStrike">
                <a:solidFill>
                  <a:srgbClr val="0D6B3A"/>
                </a:solidFill>
                <a:latin typeface="Trebuchet MS"/>
                <a:ea typeface="Trebuchet MS"/>
                <a:cs typeface="Trebuchet MS"/>
                <a:sym typeface="Trebuchet MS"/>
              </a:rPr>
              <a:t>Done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2"/>
          <p:cNvSpPr/>
          <p:nvPr/>
        </p:nvSpPr>
        <p:spPr>
          <a:xfrm>
            <a:off x="365760" y="4261104"/>
            <a:ext cx="2743200" cy="6035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2"/>
          <p:cNvSpPr/>
          <p:nvPr/>
        </p:nvSpPr>
        <p:spPr>
          <a:xfrm>
            <a:off x="3154680" y="4261104"/>
            <a:ext cx="960120" cy="6035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2"/>
          <p:cNvSpPr/>
          <p:nvPr/>
        </p:nvSpPr>
        <p:spPr>
          <a:xfrm>
            <a:off x="4160520" y="4261104"/>
            <a:ext cx="960120" cy="6035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2"/>
          <p:cNvSpPr/>
          <p:nvPr/>
        </p:nvSpPr>
        <p:spPr>
          <a:xfrm>
            <a:off x="5166360" y="4261104"/>
            <a:ext cx="2926080" cy="6035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2"/>
          <p:cNvSpPr/>
          <p:nvPr/>
        </p:nvSpPr>
        <p:spPr>
          <a:xfrm>
            <a:off x="8138160" y="4261104"/>
            <a:ext cx="640080" cy="6035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2"/>
          <p:cNvSpPr/>
          <p:nvPr/>
        </p:nvSpPr>
        <p:spPr>
          <a:xfrm>
            <a:off x="438912" y="4334256"/>
            <a:ext cx="259689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850"/>
              <a:buFont typeface="Trebuchet MS"/>
              <a:buNone/>
            </a:pPr>
            <a:r>
              <a:rPr b="0" i="0" lang="en-US" sz="85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Staff resistance to adopting new system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2"/>
          <p:cNvSpPr/>
          <p:nvPr/>
        </p:nvSpPr>
        <p:spPr>
          <a:xfrm>
            <a:off x="3236976" y="4453128"/>
            <a:ext cx="822960" cy="21945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8A5A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2"/>
          <p:cNvSpPr/>
          <p:nvPr/>
        </p:nvSpPr>
        <p:spPr>
          <a:xfrm>
            <a:off x="3236976" y="4453128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5A00"/>
              </a:buClr>
              <a:buSzPts val="800"/>
              <a:buFont typeface="Trebuchet MS"/>
              <a:buNone/>
            </a:pPr>
            <a:r>
              <a:rPr b="1" i="0" lang="en-US" sz="800" u="none" cap="none" strike="noStrike">
                <a:solidFill>
                  <a:srgbClr val="8A5A00"/>
                </a:solidFill>
                <a:latin typeface="Trebuchet MS"/>
                <a:ea typeface="Trebuchet MS"/>
                <a:cs typeface="Trebuchet MS"/>
                <a:sym typeface="Trebuchet MS"/>
              </a:rPr>
              <a:t>Med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2"/>
          <p:cNvSpPr/>
          <p:nvPr/>
        </p:nvSpPr>
        <p:spPr>
          <a:xfrm>
            <a:off x="4242816" y="4453128"/>
            <a:ext cx="822960" cy="21945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8A5A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2"/>
          <p:cNvSpPr/>
          <p:nvPr/>
        </p:nvSpPr>
        <p:spPr>
          <a:xfrm>
            <a:off x="4242816" y="4453128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5A00"/>
              </a:buClr>
              <a:buSzPts val="800"/>
              <a:buFont typeface="Trebuchet MS"/>
              <a:buNone/>
            </a:pPr>
            <a:r>
              <a:rPr b="1" i="0" lang="en-US" sz="800" u="none" cap="none" strike="noStrike">
                <a:solidFill>
                  <a:srgbClr val="8A5A00"/>
                </a:solidFill>
                <a:latin typeface="Trebuchet MS"/>
                <a:ea typeface="Trebuchet MS"/>
                <a:cs typeface="Trebuchet MS"/>
                <a:sym typeface="Trebuchet MS"/>
              </a:rPr>
              <a:t>Med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2"/>
          <p:cNvSpPr/>
          <p:nvPr/>
        </p:nvSpPr>
        <p:spPr>
          <a:xfrm>
            <a:off x="5239512" y="4315968"/>
            <a:ext cx="277977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800"/>
              <a:buFont typeface="Trebuchet MS"/>
              <a:buNone/>
            </a:pPr>
            <a:r>
              <a:rPr b="0" i="0" lang="en-US" sz="80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UAT run with all 6 actual users; KAM designated as internal champion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2"/>
          <p:cNvSpPr/>
          <p:nvPr/>
        </p:nvSpPr>
        <p:spPr>
          <a:xfrm>
            <a:off x="8165592" y="4453128"/>
            <a:ext cx="566928" cy="201168"/>
          </a:xfrm>
          <a:prstGeom prst="rect">
            <a:avLst/>
          </a:prstGeom>
          <a:solidFill>
            <a:srgbClr val="EDF5F1"/>
          </a:solidFill>
          <a:ln cap="flat" cmpd="sng" w="9525">
            <a:solidFill>
              <a:srgbClr val="0D6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2"/>
          <p:cNvSpPr/>
          <p:nvPr/>
        </p:nvSpPr>
        <p:spPr>
          <a:xfrm>
            <a:off x="8165592" y="4453128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6B3A"/>
              </a:buClr>
              <a:buSzPts val="750"/>
              <a:buFont typeface="Trebuchet MS"/>
              <a:buNone/>
            </a:pPr>
            <a:r>
              <a:rPr b="1" i="0" lang="en-US" sz="750" u="none" cap="none" strike="noStrike">
                <a:solidFill>
                  <a:srgbClr val="0D6B3A"/>
                </a:solidFill>
                <a:latin typeface="Trebuchet MS"/>
                <a:ea typeface="Trebuchet MS"/>
                <a:cs typeface="Trebuchet MS"/>
                <a:sym typeface="Trebuchet MS"/>
              </a:rPr>
              <a:t>Done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1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F2F3F6"/>
          </a:solidFill>
          <a:ln cap="flat" cmpd="sng" w="12700">
            <a:solidFill>
              <a:srgbClr val="F2F3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3"/>
          <p:cNvSpPr/>
          <p:nvPr/>
        </p:nvSpPr>
        <p:spPr>
          <a:xfrm>
            <a:off x="502920" y="658368"/>
            <a:ext cx="960120" cy="43891"/>
          </a:xfrm>
          <a:prstGeom prst="rect">
            <a:avLst/>
          </a:prstGeom>
          <a:solidFill>
            <a:srgbClr val="0A0F4F"/>
          </a:solidFill>
          <a:ln cap="flat" cmpd="sng" w="12700">
            <a:solidFill>
              <a:srgbClr val="0A0F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3"/>
          <p:cNvSpPr/>
          <p:nvPr/>
        </p:nvSpPr>
        <p:spPr>
          <a:xfrm>
            <a:off x="1463040" y="658368"/>
            <a:ext cx="438912" cy="43891"/>
          </a:xfrm>
          <a:prstGeom prst="rect">
            <a:avLst/>
          </a:prstGeom>
          <a:solidFill>
            <a:srgbClr val="1A2AD4"/>
          </a:solidFill>
          <a:ln cap="flat" cmpd="sng" w="12700">
            <a:solidFill>
              <a:srgbClr val="1A2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3"/>
          <p:cNvSpPr/>
          <p:nvPr/>
        </p:nvSpPr>
        <p:spPr>
          <a:xfrm>
            <a:off x="502920" y="749808"/>
            <a:ext cx="4114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Delivery Outcomes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3"/>
          <p:cNvSpPr/>
          <p:nvPr/>
        </p:nvSpPr>
        <p:spPr>
          <a:xfrm>
            <a:off x="4389120" y="804672"/>
            <a:ext cx="43434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BA0"/>
              </a:buClr>
              <a:buSzPts val="1100"/>
              <a:buFont typeface="Trebuchet MS"/>
              <a:buNone/>
            </a:pPr>
            <a:r>
              <a:rPr b="0" i="0" lang="en-US" sz="1100" u="none" cap="none" strike="noStrike">
                <a:solidFill>
                  <a:srgbClr val="888BA0"/>
                </a:solidFill>
                <a:latin typeface="Trebuchet MS"/>
                <a:ea typeface="Trebuchet MS"/>
                <a:cs typeface="Trebuchet MS"/>
                <a:sym typeface="Trebuchet MS"/>
              </a:rPr>
              <a:t>What the engagement achieved for the client.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5" name="Google Shape;495;p13"/>
          <p:cNvCxnSpPr/>
          <p:nvPr/>
        </p:nvCxnSpPr>
        <p:spPr>
          <a:xfrm>
            <a:off x="502920" y="1481328"/>
            <a:ext cx="8138160" cy="0"/>
          </a:xfrm>
          <a:prstGeom prst="straightConnector1">
            <a:avLst/>
          </a:prstGeom>
          <a:noFill/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6" name="Google Shape;496;p13"/>
          <p:cNvSpPr/>
          <p:nvPr/>
        </p:nvSpPr>
        <p:spPr>
          <a:xfrm>
            <a:off x="502920" y="1591056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AD4"/>
              </a:buClr>
              <a:buSzPts val="750"/>
              <a:buFont typeface="Trebuchet MS"/>
              <a:buNone/>
            </a:pPr>
            <a:r>
              <a:rPr b="1" i="0" lang="en-US" sz="750" u="none" cap="none" strike="noStrike">
                <a:solidFill>
                  <a:srgbClr val="1A2AD4"/>
                </a:solidFill>
                <a:latin typeface="Trebuchet MS"/>
                <a:ea typeface="Trebuchet MS"/>
                <a:cs typeface="Trebuchet MS"/>
                <a:sym typeface="Trebuchet MS"/>
              </a:rPr>
              <a:t>PIPELINE STAGES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3"/>
          <p:cNvSpPr/>
          <p:nvPr/>
        </p:nvSpPr>
        <p:spPr>
          <a:xfrm>
            <a:off x="502920" y="1883664"/>
            <a:ext cx="2011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F4F"/>
              </a:buClr>
              <a:buSzPts val="5400"/>
              <a:buFont typeface="Trebuchet MS"/>
              <a:buNone/>
            </a:pPr>
            <a:r>
              <a:rPr b="1" i="0" lang="en-US" sz="5400" u="none" cap="none" strike="noStrike">
                <a:solidFill>
                  <a:srgbClr val="0A0F4F"/>
                </a:solidFill>
                <a:latin typeface="Trebuchet MS"/>
                <a:ea typeface="Trebuchet MS"/>
                <a:cs typeface="Trebuchet MS"/>
                <a:sym typeface="Trebuchet MS"/>
              </a:rPr>
              <a:t>5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8" name="Google Shape;498;p13"/>
          <p:cNvCxnSpPr/>
          <p:nvPr/>
        </p:nvCxnSpPr>
        <p:spPr>
          <a:xfrm>
            <a:off x="777240" y="2834640"/>
            <a:ext cx="1463040" cy="0"/>
          </a:xfrm>
          <a:prstGeom prst="straightConnector1">
            <a:avLst/>
          </a:prstGeom>
          <a:noFill/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9" name="Google Shape;499;p13"/>
          <p:cNvSpPr/>
          <p:nvPr/>
        </p:nvSpPr>
        <p:spPr>
          <a:xfrm>
            <a:off x="502920" y="2907792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BA0"/>
              </a:buClr>
              <a:buSzPts val="850"/>
              <a:buFont typeface="Trebuchet MS"/>
              <a:buNone/>
            </a:pPr>
            <a:r>
              <a:rPr b="0" i="0" lang="en-US" sz="850" u="none" cap="none" strike="noStrike">
                <a:solidFill>
                  <a:srgbClr val="888BA0"/>
                </a:solidFill>
                <a:latin typeface="Trebuchet MS"/>
                <a:ea typeface="Trebuchet MS"/>
                <a:cs typeface="Trebuchet MS"/>
                <a:sym typeface="Trebuchet MS"/>
              </a:rPr>
              <a:t>Brief, Invoice, Approval, Print, Shipping</a:t>
            </a:r>
            <a:r>
              <a:rPr lang="en-US" sz="850">
                <a:solidFill>
                  <a:srgbClr val="888BA0"/>
                </a:solidFill>
                <a:latin typeface="Trebuchet MS"/>
                <a:ea typeface="Trebuchet MS"/>
                <a:cs typeface="Trebuchet MS"/>
                <a:sym typeface="Trebuchet MS"/>
              </a:rPr>
              <a:t>,</a:t>
            </a:r>
            <a:r>
              <a:rPr b="0" i="0" lang="en-US" sz="850" u="none" cap="none" strike="noStrike">
                <a:solidFill>
                  <a:srgbClr val="888BA0"/>
                </a:solidFill>
                <a:latin typeface="Trebuchet MS"/>
                <a:ea typeface="Trebuchet MS"/>
                <a:cs typeface="Trebuchet MS"/>
                <a:sym typeface="Trebuchet MS"/>
              </a:rPr>
              <a:t> each with 3 live status options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0" name="Google Shape;500;p13"/>
          <p:cNvCxnSpPr/>
          <p:nvPr/>
        </p:nvCxnSpPr>
        <p:spPr>
          <a:xfrm>
            <a:off x="2560320" y="1517904"/>
            <a:ext cx="0" cy="1920240"/>
          </a:xfrm>
          <a:prstGeom prst="straightConnector1">
            <a:avLst/>
          </a:prstGeom>
          <a:noFill/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1" name="Google Shape;501;p13"/>
          <p:cNvSpPr/>
          <p:nvPr/>
        </p:nvSpPr>
        <p:spPr>
          <a:xfrm>
            <a:off x="2651760" y="1591056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AD4"/>
              </a:buClr>
              <a:buSzPts val="750"/>
              <a:buFont typeface="Trebuchet MS"/>
              <a:buNone/>
            </a:pPr>
            <a:r>
              <a:rPr b="1" i="0" lang="en-US" sz="750" u="none" cap="none" strike="noStrike">
                <a:solidFill>
                  <a:srgbClr val="1A2AD4"/>
                </a:solidFill>
                <a:latin typeface="Trebuchet MS"/>
                <a:ea typeface="Trebuchet MS"/>
                <a:cs typeface="Trebuchet MS"/>
                <a:sym typeface="Trebuchet MS"/>
              </a:rPr>
              <a:t>USERS ONBOARDED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3"/>
          <p:cNvSpPr/>
          <p:nvPr/>
        </p:nvSpPr>
        <p:spPr>
          <a:xfrm>
            <a:off x="2651760" y="1883664"/>
            <a:ext cx="2011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F4F"/>
              </a:buClr>
              <a:buSzPts val="5400"/>
              <a:buFont typeface="Trebuchet MS"/>
              <a:buNone/>
            </a:pPr>
            <a:r>
              <a:rPr b="1" i="0" lang="en-US" sz="5400" u="none" cap="none" strike="noStrike">
                <a:solidFill>
                  <a:srgbClr val="0A0F4F"/>
                </a:solidFill>
                <a:latin typeface="Trebuchet MS"/>
                <a:ea typeface="Trebuchet MS"/>
                <a:cs typeface="Trebuchet MS"/>
                <a:sym typeface="Trebuchet MS"/>
              </a:rPr>
              <a:t>6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3" name="Google Shape;503;p13"/>
          <p:cNvCxnSpPr/>
          <p:nvPr/>
        </p:nvCxnSpPr>
        <p:spPr>
          <a:xfrm>
            <a:off x="2926080" y="2834640"/>
            <a:ext cx="1463040" cy="0"/>
          </a:xfrm>
          <a:prstGeom prst="straightConnector1">
            <a:avLst/>
          </a:prstGeom>
          <a:noFill/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4" name="Google Shape;504;p13"/>
          <p:cNvSpPr/>
          <p:nvPr/>
        </p:nvSpPr>
        <p:spPr>
          <a:xfrm>
            <a:off x="2651760" y="2907792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BA0"/>
              </a:buClr>
              <a:buSzPts val="850"/>
              <a:buFont typeface="Trebuchet MS"/>
              <a:buNone/>
            </a:pPr>
            <a:r>
              <a:rPr b="0" i="0" lang="en-US" sz="850" u="none" cap="none" strike="noStrike">
                <a:solidFill>
                  <a:srgbClr val="888BA0"/>
                </a:solidFill>
                <a:latin typeface="Trebuchet MS"/>
                <a:ea typeface="Trebuchet MS"/>
                <a:cs typeface="Trebuchet MS"/>
                <a:sym typeface="Trebuchet MS"/>
              </a:rPr>
              <a:t>1 KAM admin with full visibility + 5 sales staff with scoped views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5" name="Google Shape;505;p13"/>
          <p:cNvCxnSpPr/>
          <p:nvPr/>
        </p:nvCxnSpPr>
        <p:spPr>
          <a:xfrm>
            <a:off x="4709160" y="1517904"/>
            <a:ext cx="0" cy="1920240"/>
          </a:xfrm>
          <a:prstGeom prst="straightConnector1">
            <a:avLst/>
          </a:prstGeom>
          <a:noFill/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6" name="Google Shape;506;p13"/>
          <p:cNvSpPr/>
          <p:nvPr/>
        </p:nvSpPr>
        <p:spPr>
          <a:xfrm>
            <a:off x="4800600" y="1591056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AD4"/>
              </a:buClr>
              <a:buSzPts val="750"/>
              <a:buFont typeface="Trebuchet MS"/>
              <a:buNone/>
            </a:pPr>
            <a:r>
              <a:rPr b="1" i="0" lang="en-US" sz="750" u="none" cap="none" strike="noStrike">
                <a:solidFill>
                  <a:srgbClr val="1A2AD4"/>
                </a:solidFill>
                <a:latin typeface="Trebuchet MS"/>
                <a:ea typeface="Trebuchet MS"/>
                <a:cs typeface="Trebuchet MS"/>
                <a:sym typeface="Trebuchet MS"/>
              </a:rPr>
              <a:t>CONSULTING PHASES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3"/>
          <p:cNvSpPr/>
          <p:nvPr/>
        </p:nvSpPr>
        <p:spPr>
          <a:xfrm>
            <a:off x="4800600" y="1883664"/>
            <a:ext cx="2011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F4F"/>
              </a:buClr>
              <a:buSzPts val="5400"/>
              <a:buFont typeface="Trebuchet MS"/>
              <a:buNone/>
            </a:pPr>
            <a:r>
              <a:rPr b="1" i="0" lang="en-US" sz="5400" u="none" cap="none" strike="noStrike">
                <a:solidFill>
                  <a:srgbClr val="0A0F4F"/>
                </a:solidFill>
                <a:latin typeface="Trebuchet MS"/>
                <a:ea typeface="Trebuchet MS"/>
                <a:cs typeface="Trebuchet MS"/>
                <a:sym typeface="Trebuchet MS"/>
              </a:rPr>
              <a:t>6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8" name="Google Shape;508;p13"/>
          <p:cNvCxnSpPr/>
          <p:nvPr/>
        </p:nvCxnSpPr>
        <p:spPr>
          <a:xfrm>
            <a:off x="5074920" y="2834640"/>
            <a:ext cx="1463040" cy="0"/>
          </a:xfrm>
          <a:prstGeom prst="straightConnector1">
            <a:avLst/>
          </a:prstGeom>
          <a:noFill/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9" name="Google Shape;509;p13"/>
          <p:cNvSpPr/>
          <p:nvPr/>
        </p:nvSpPr>
        <p:spPr>
          <a:xfrm>
            <a:off x="4800600" y="2907792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BA0"/>
              </a:buClr>
              <a:buSzPts val="850"/>
              <a:buFont typeface="Trebuchet MS"/>
              <a:buNone/>
            </a:pPr>
            <a:r>
              <a:rPr b="0" i="0" lang="en-US" sz="850" u="none" cap="none" strike="noStrike">
                <a:solidFill>
                  <a:srgbClr val="888BA0"/>
                </a:solidFill>
                <a:latin typeface="Trebuchet MS"/>
                <a:ea typeface="Trebuchet MS"/>
                <a:cs typeface="Trebuchet MS"/>
                <a:sym typeface="Trebuchet MS"/>
              </a:rPr>
              <a:t>Discovery, mapping, design, build, testing, handover all delivered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0" name="Google Shape;510;p13"/>
          <p:cNvCxnSpPr/>
          <p:nvPr/>
        </p:nvCxnSpPr>
        <p:spPr>
          <a:xfrm>
            <a:off x="6858000" y="1517904"/>
            <a:ext cx="0" cy="1920240"/>
          </a:xfrm>
          <a:prstGeom prst="straightConnector1">
            <a:avLst/>
          </a:prstGeom>
          <a:noFill/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1" name="Google Shape;511;p13"/>
          <p:cNvSpPr/>
          <p:nvPr/>
        </p:nvSpPr>
        <p:spPr>
          <a:xfrm>
            <a:off x="6949440" y="1591056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AD4"/>
              </a:buClr>
              <a:buSzPts val="750"/>
              <a:buFont typeface="Trebuchet MS"/>
              <a:buNone/>
            </a:pPr>
            <a:r>
              <a:rPr b="1" i="0" lang="en-US" sz="750" u="none" cap="none" strike="noStrike">
                <a:solidFill>
                  <a:srgbClr val="1A2AD4"/>
                </a:solidFill>
                <a:latin typeface="Trebuchet MS"/>
                <a:ea typeface="Trebuchet MS"/>
                <a:cs typeface="Trebuchet MS"/>
                <a:sym typeface="Trebuchet MS"/>
              </a:rPr>
              <a:t>RISKS MITIGATED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3"/>
          <p:cNvSpPr/>
          <p:nvPr/>
        </p:nvSpPr>
        <p:spPr>
          <a:xfrm>
            <a:off x="6949440" y="1883664"/>
            <a:ext cx="2011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F4F"/>
              </a:buClr>
              <a:buSzPts val="5400"/>
              <a:buFont typeface="Trebuchet MS"/>
              <a:buNone/>
            </a:pPr>
            <a:r>
              <a:rPr b="1" i="0" lang="en-US" sz="5400" u="none" cap="none" strike="noStrike">
                <a:solidFill>
                  <a:srgbClr val="0A0F4F"/>
                </a:solidFill>
                <a:latin typeface="Trebuchet MS"/>
                <a:ea typeface="Trebuchet MS"/>
                <a:cs typeface="Trebuchet MS"/>
                <a:sym typeface="Trebuchet MS"/>
              </a:rPr>
              <a:t>5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3" name="Google Shape;513;p13"/>
          <p:cNvCxnSpPr/>
          <p:nvPr/>
        </p:nvCxnSpPr>
        <p:spPr>
          <a:xfrm>
            <a:off x="7223760" y="2834640"/>
            <a:ext cx="1463040" cy="0"/>
          </a:xfrm>
          <a:prstGeom prst="straightConnector1">
            <a:avLst/>
          </a:prstGeom>
          <a:noFill/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4" name="Google Shape;514;p13"/>
          <p:cNvSpPr/>
          <p:nvPr/>
        </p:nvSpPr>
        <p:spPr>
          <a:xfrm>
            <a:off x="6949440" y="2907792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BA0"/>
              </a:buClr>
              <a:buSzPts val="850"/>
              <a:buFont typeface="Trebuchet MS"/>
              <a:buNone/>
            </a:pPr>
            <a:r>
              <a:rPr b="0" i="0" lang="en-US" sz="850" u="none" cap="none" strike="noStrike">
                <a:solidFill>
                  <a:srgbClr val="888BA0"/>
                </a:solidFill>
                <a:latin typeface="Trebuchet MS"/>
                <a:ea typeface="Trebuchet MS"/>
                <a:cs typeface="Trebuchet MS"/>
                <a:sym typeface="Trebuchet MS"/>
              </a:rPr>
              <a:t>All resolved and documented before client go-live sign-off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15" name="Google Shape;51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657600"/>
            <a:ext cx="9144000" cy="14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13"/>
          <p:cNvSpPr/>
          <p:nvPr/>
        </p:nvSpPr>
        <p:spPr>
          <a:xfrm>
            <a:off x="0" y="3657600"/>
            <a:ext cx="9144000" cy="1485900"/>
          </a:xfrm>
          <a:prstGeom prst="rect">
            <a:avLst/>
          </a:prstGeom>
          <a:solidFill>
            <a:srgbClr val="0A0F4F">
              <a:alpha val="54901"/>
            </a:srgbClr>
          </a:solidFill>
          <a:ln cap="flat" cmpd="sng" w="12700">
            <a:solidFill>
              <a:srgbClr val="0A0F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17" name="Google Shape;517;p13"/>
          <p:cNvCxnSpPr/>
          <p:nvPr/>
        </p:nvCxnSpPr>
        <p:spPr>
          <a:xfrm>
            <a:off x="502920" y="4919472"/>
            <a:ext cx="8138160" cy="0"/>
          </a:xfrm>
          <a:prstGeom prst="straightConnector1">
            <a:avLst/>
          </a:prstGeom>
          <a:noFill/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8" name="Google Shape;518;p13"/>
          <p:cNvSpPr/>
          <p:nvPr/>
        </p:nvSpPr>
        <p:spPr>
          <a:xfrm>
            <a:off x="502920" y="4946904"/>
            <a:ext cx="4572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BA0"/>
              </a:buClr>
              <a:buSzPts val="750"/>
              <a:buFont typeface="Trebuchet MS"/>
              <a:buNone/>
            </a:pPr>
            <a:r>
              <a:rPr b="0" i="0" lang="en-US" sz="750" u="none" cap="none" strike="noStrike">
                <a:solidFill>
                  <a:srgbClr val="888BA0"/>
                </a:solidFill>
                <a:latin typeface="Trebuchet MS"/>
                <a:ea typeface="Trebuchet MS"/>
                <a:cs typeface="Trebuchet MS"/>
                <a:sym typeface="Trebuchet MS"/>
              </a:rPr>
              <a:t>BlkQuarry — Confidential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3"/>
          <p:cNvSpPr/>
          <p:nvPr/>
        </p:nvSpPr>
        <p:spPr>
          <a:xfrm>
            <a:off x="6492240" y="4946904"/>
            <a:ext cx="2148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BA0"/>
              </a:buClr>
              <a:buSzPts val="750"/>
              <a:buFont typeface="Trebuchet MS"/>
              <a:buNone/>
            </a:pPr>
            <a:r>
              <a:rPr b="0" i="0" lang="en-US" sz="750" u="none" cap="none" strike="noStrike">
                <a:solidFill>
                  <a:srgbClr val="888BA0"/>
                </a:solidFill>
                <a:latin typeface="Trebuchet MS"/>
                <a:ea typeface="Trebuchet MS"/>
                <a:cs typeface="Trebuchet MS"/>
                <a:sym typeface="Trebuchet MS"/>
              </a:rPr>
              <a:t>blkquarry.com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14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F2F3F6"/>
          </a:solidFill>
          <a:ln cap="flat" cmpd="sng" w="12700">
            <a:solidFill>
              <a:srgbClr val="F2F3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14"/>
          <p:cNvSpPr/>
          <p:nvPr/>
        </p:nvSpPr>
        <p:spPr>
          <a:xfrm>
            <a:off x="502920" y="658368"/>
            <a:ext cx="960120" cy="43891"/>
          </a:xfrm>
          <a:prstGeom prst="rect">
            <a:avLst/>
          </a:prstGeom>
          <a:solidFill>
            <a:srgbClr val="0A0F4F"/>
          </a:solidFill>
          <a:ln cap="flat" cmpd="sng" w="12700">
            <a:solidFill>
              <a:srgbClr val="0A0F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4"/>
          <p:cNvSpPr/>
          <p:nvPr/>
        </p:nvSpPr>
        <p:spPr>
          <a:xfrm>
            <a:off x="1463040" y="658368"/>
            <a:ext cx="438912" cy="43891"/>
          </a:xfrm>
          <a:prstGeom prst="rect">
            <a:avLst/>
          </a:prstGeom>
          <a:solidFill>
            <a:srgbClr val="1A2AD4"/>
          </a:solidFill>
          <a:ln cap="flat" cmpd="sng" w="12700">
            <a:solidFill>
              <a:srgbClr val="1A2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14"/>
          <p:cNvSpPr/>
          <p:nvPr/>
        </p:nvSpPr>
        <p:spPr>
          <a:xfrm>
            <a:off x="502920" y="749808"/>
            <a:ext cx="7315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Lessons Learned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9" name="Google Shape;529;p14"/>
          <p:cNvCxnSpPr/>
          <p:nvPr/>
        </p:nvCxnSpPr>
        <p:spPr>
          <a:xfrm>
            <a:off x="502920" y="4919472"/>
            <a:ext cx="8138160" cy="0"/>
          </a:xfrm>
          <a:prstGeom prst="straightConnector1">
            <a:avLst/>
          </a:prstGeom>
          <a:noFill/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0" name="Google Shape;530;p14"/>
          <p:cNvSpPr/>
          <p:nvPr/>
        </p:nvSpPr>
        <p:spPr>
          <a:xfrm>
            <a:off x="502920" y="4946904"/>
            <a:ext cx="4572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BA0"/>
              </a:buClr>
              <a:buSzPts val="750"/>
              <a:buFont typeface="Trebuchet MS"/>
              <a:buNone/>
            </a:pPr>
            <a:r>
              <a:rPr b="0" i="0" lang="en-US" sz="750" u="none" cap="none" strike="noStrike">
                <a:solidFill>
                  <a:srgbClr val="888BA0"/>
                </a:solidFill>
                <a:latin typeface="Trebuchet MS"/>
                <a:ea typeface="Trebuchet MS"/>
                <a:cs typeface="Trebuchet MS"/>
                <a:sym typeface="Trebuchet MS"/>
              </a:rPr>
              <a:t>BlkQuarry — Confidential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4"/>
          <p:cNvSpPr/>
          <p:nvPr/>
        </p:nvSpPr>
        <p:spPr>
          <a:xfrm>
            <a:off x="6492240" y="4946904"/>
            <a:ext cx="2148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BA0"/>
              </a:buClr>
              <a:buSzPts val="750"/>
              <a:buFont typeface="Trebuchet MS"/>
              <a:buNone/>
            </a:pPr>
            <a:r>
              <a:rPr b="0" i="0" lang="en-US" sz="750" u="none" cap="none" strike="noStrike">
                <a:solidFill>
                  <a:srgbClr val="888BA0"/>
                </a:solidFill>
                <a:latin typeface="Trebuchet MS"/>
                <a:ea typeface="Trebuchet MS"/>
                <a:cs typeface="Trebuchet MS"/>
                <a:sym typeface="Trebuchet MS"/>
              </a:rPr>
              <a:t>blkquarry.com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4"/>
          <p:cNvSpPr/>
          <p:nvPr/>
        </p:nvSpPr>
        <p:spPr>
          <a:xfrm>
            <a:off x="502920" y="1444752"/>
            <a:ext cx="347472" cy="347472"/>
          </a:xfrm>
          <a:prstGeom prst="ellipse">
            <a:avLst/>
          </a:prstGeom>
          <a:solidFill>
            <a:srgbClr val="0A0F4F"/>
          </a:solidFill>
          <a:ln cap="flat" cmpd="sng" w="12700">
            <a:solidFill>
              <a:srgbClr val="0A0F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14"/>
          <p:cNvSpPr/>
          <p:nvPr/>
        </p:nvSpPr>
        <p:spPr>
          <a:xfrm>
            <a:off x="502920" y="1453896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4"/>
          <p:cNvSpPr/>
          <p:nvPr/>
        </p:nvSpPr>
        <p:spPr>
          <a:xfrm>
            <a:off x="978408" y="146304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D4"/>
              </a:buClr>
              <a:buSzPts val="800"/>
              <a:buFont typeface="Trebuchet MS"/>
              <a:buNone/>
            </a:pPr>
            <a:r>
              <a:rPr b="1" i="0" lang="en-US" sz="800" u="none" cap="none" strike="noStrike">
                <a:solidFill>
                  <a:srgbClr val="1A2AD4"/>
                </a:solidFill>
                <a:latin typeface="Trebuchet MS"/>
                <a:ea typeface="Trebuchet MS"/>
                <a:cs typeface="Trebuchet MS"/>
                <a:sym typeface="Trebuchet MS"/>
              </a:rPr>
              <a:t>DISCOVERY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5" name="Google Shape;535;p14"/>
          <p:cNvCxnSpPr/>
          <p:nvPr/>
        </p:nvCxnSpPr>
        <p:spPr>
          <a:xfrm>
            <a:off x="978408" y="1700784"/>
            <a:ext cx="3749040" cy="0"/>
          </a:xfrm>
          <a:prstGeom prst="straightConnector1">
            <a:avLst/>
          </a:prstGeom>
          <a:noFill/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6" name="Google Shape;536;p14"/>
          <p:cNvSpPr/>
          <p:nvPr/>
        </p:nvSpPr>
        <p:spPr>
          <a:xfrm>
            <a:off x="978408" y="1773936"/>
            <a:ext cx="3749040" cy="1335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950"/>
              <a:buFont typeface="Trebuchet MS"/>
              <a:buNone/>
            </a:pPr>
            <a:r>
              <a:rPr b="0" i="0" lang="en-US" sz="95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The initial brief described a simple tracking sheet. Structured discovery revealed the need for user-level data separation, which changed the architecture from a shared spreadsheet to a web app with login-based scoping.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4"/>
          <p:cNvSpPr/>
          <p:nvPr/>
        </p:nvSpPr>
        <p:spPr>
          <a:xfrm>
            <a:off x="4754880" y="1444752"/>
            <a:ext cx="347472" cy="347472"/>
          </a:xfrm>
          <a:prstGeom prst="ellipse">
            <a:avLst/>
          </a:prstGeom>
          <a:solidFill>
            <a:srgbClr val="0A0F4F"/>
          </a:solidFill>
          <a:ln cap="flat" cmpd="sng" w="12700">
            <a:solidFill>
              <a:srgbClr val="0A0F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4"/>
          <p:cNvSpPr/>
          <p:nvPr/>
        </p:nvSpPr>
        <p:spPr>
          <a:xfrm>
            <a:off x="4754880" y="1453896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4"/>
          <p:cNvSpPr/>
          <p:nvPr/>
        </p:nvSpPr>
        <p:spPr>
          <a:xfrm>
            <a:off x="5230368" y="146304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D4"/>
              </a:buClr>
              <a:buSzPts val="800"/>
              <a:buFont typeface="Trebuchet MS"/>
              <a:buNone/>
            </a:pPr>
            <a:r>
              <a:rPr b="1" i="0" lang="en-US" sz="800" u="none" cap="none" strike="noStrike">
                <a:solidFill>
                  <a:srgbClr val="1A2AD4"/>
                </a:solidFill>
                <a:latin typeface="Trebuchet MS"/>
                <a:ea typeface="Trebuchet MS"/>
                <a:cs typeface="Trebuchet MS"/>
                <a:sym typeface="Trebuchet MS"/>
              </a:rPr>
              <a:t>ARCHITECTURE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0" name="Google Shape;540;p14"/>
          <p:cNvCxnSpPr/>
          <p:nvPr/>
        </p:nvCxnSpPr>
        <p:spPr>
          <a:xfrm>
            <a:off x="5230368" y="1700784"/>
            <a:ext cx="3749040" cy="0"/>
          </a:xfrm>
          <a:prstGeom prst="straightConnector1">
            <a:avLst/>
          </a:prstGeom>
          <a:noFill/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1" name="Google Shape;541;p14"/>
          <p:cNvSpPr/>
          <p:nvPr/>
        </p:nvSpPr>
        <p:spPr>
          <a:xfrm>
            <a:off x="5230368" y="1773936"/>
            <a:ext cx="3749040" cy="1335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950"/>
              <a:buFont typeface="Trebuchet MS"/>
              <a:buNone/>
            </a:pPr>
            <a:r>
              <a:rPr b="0" i="0" lang="en-US" sz="95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The client's instinct was a desktop app. Walking through deployment, maintenance, and permission implications during discovery resulted in a unanimous decision to go web — a better outcome for all 6 users.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4"/>
          <p:cNvSpPr/>
          <p:nvPr/>
        </p:nvSpPr>
        <p:spPr>
          <a:xfrm>
            <a:off x="502920" y="3072384"/>
            <a:ext cx="347472" cy="347472"/>
          </a:xfrm>
          <a:prstGeom prst="ellipse">
            <a:avLst/>
          </a:prstGeom>
          <a:solidFill>
            <a:srgbClr val="0A0F4F"/>
          </a:solidFill>
          <a:ln cap="flat" cmpd="sng" w="12700">
            <a:solidFill>
              <a:srgbClr val="0A0F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14"/>
          <p:cNvSpPr/>
          <p:nvPr/>
        </p:nvSpPr>
        <p:spPr>
          <a:xfrm>
            <a:off x="502920" y="308152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4"/>
          <p:cNvSpPr/>
          <p:nvPr/>
        </p:nvSpPr>
        <p:spPr>
          <a:xfrm>
            <a:off x="978408" y="3090672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D4"/>
              </a:buClr>
              <a:buSzPts val="800"/>
              <a:buFont typeface="Trebuchet MS"/>
              <a:buNone/>
            </a:pPr>
            <a:r>
              <a:rPr b="1" i="0" lang="en-US" sz="800" u="none" cap="none" strike="noStrike">
                <a:solidFill>
                  <a:srgbClr val="1A2AD4"/>
                </a:solidFill>
                <a:latin typeface="Trebuchet MS"/>
                <a:ea typeface="Trebuchet MS"/>
                <a:cs typeface="Trebuchet MS"/>
                <a:sym typeface="Trebuchet MS"/>
              </a:rPr>
              <a:t>DATA DESIGN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5" name="Google Shape;545;p14"/>
          <p:cNvCxnSpPr/>
          <p:nvPr/>
        </p:nvCxnSpPr>
        <p:spPr>
          <a:xfrm>
            <a:off x="978408" y="3328416"/>
            <a:ext cx="3749040" cy="0"/>
          </a:xfrm>
          <a:prstGeom prst="straightConnector1">
            <a:avLst/>
          </a:prstGeom>
          <a:noFill/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6" name="Google Shape;546;p14"/>
          <p:cNvSpPr/>
          <p:nvPr/>
        </p:nvSpPr>
        <p:spPr>
          <a:xfrm>
            <a:off x="978408" y="3401568"/>
            <a:ext cx="3749040" cy="1335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950"/>
              <a:buFont typeface="Trebuchet MS"/>
              <a:buNone/>
            </a:pPr>
            <a:r>
              <a:rPr b="0" i="0" lang="en-US" sz="95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Free-text intake fields introduced inconsistent job data during testing. Replacing most fields with structured dropdowns resolved data quality issues before go-live.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4"/>
          <p:cNvSpPr/>
          <p:nvPr/>
        </p:nvSpPr>
        <p:spPr>
          <a:xfrm>
            <a:off x="4754880" y="3072384"/>
            <a:ext cx="347472" cy="347472"/>
          </a:xfrm>
          <a:prstGeom prst="ellipse">
            <a:avLst/>
          </a:prstGeom>
          <a:solidFill>
            <a:srgbClr val="0A0F4F"/>
          </a:solidFill>
          <a:ln cap="flat" cmpd="sng" w="12700">
            <a:solidFill>
              <a:srgbClr val="0A0F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4"/>
          <p:cNvSpPr/>
          <p:nvPr/>
        </p:nvSpPr>
        <p:spPr>
          <a:xfrm>
            <a:off x="4754880" y="308152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4"/>
          <p:cNvSpPr/>
          <p:nvPr/>
        </p:nvSpPr>
        <p:spPr>
          <a:xfrm>
            <a:off x="5230368" y="3090672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D4"/>
              </a:buClr>
              <a:buSzPts val="800"/>
              <a:buFont typeface="Trebuchet MS"/>
              <a:buNone/>
            </a:pPr>
            <a:r>
              <a:rPr b="1" i="0" lang="en-US" sz="800" u="none" cap="none" strike="noStrike">
                <a:solidFill>
                  <a:srgbClr val="1A2AD4"/>
                </a:solidFill>
                <a:latin typeface="Trebuchet MS"/>
                <a:ea typeface="Trebuchet MS"/>
                <a:cs typeface="Trebuchet MS"/>
                <a:sym typeface="Trebuchet MS"/>
              </a:rPr>
              <a:t>USER ADOPTION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0" name="Google Shape;550;p14"/>
          <p:cNvCxnSpPr/>
          <p:nvPr/>
        </p:nvCxnSpPr>
        <p:spPr>
          <a:xfrm>
            <a:off x="5230368" y="3328416"/>
            <a:ext cx="3749040" cy="0"/>
          </a:xfrm>
          <a:prstGeom prst="straightConnector1">
            <a:avLst/>
          </a:prstGeom>
          <a:noFill/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1" name="Google Shape;551;p14"/>
          <p:cNvSpPr/>
          <p:nvPr/>
        </p:nvSpPr>
        <p:spPr>
          <a:xfrm>
            <a:off x="5230368" y="3401568"/>
            <a:ext cx="3749040" cy="1335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950"/>
              <a:buFont typeface="Trebuchet MS"/>
              <a:buNone/>
            </a:pPr>
            <a:r>
              <a:rPr b="0" i="0" lang="en-US" sz="95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Running UAT with all 6 actual users surfaced usability issues invisible in single-user testing. The sales staff interacted with the intake form differently than expected</a:t>
            </a:r>
            <a:r>
              <a:rPr lang="en-US" sz="950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,</a:t>
            </a:r>
            <a:r>
              <a:rPr b="0" i="0" lang="en-US" sz="95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 their feedback directly shaped the final layout.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2" name="Google Shape;552;p14"/>
          <p:cNvCxnSpPr/>
          <p:nvPr/>
        </p:nvCxnSpPr>
        <p:spPr>
          <a:xfrm>
            <a:off x="4572000" y="1389888"/>
            <a:ext cx="0" cy="3200400"/>
          </a:xfrm>
          <a:prstGeom prst="straightConnector1">
            <a:avLst/>
          </a:prstGeom>
          <a:noFill/>
          <a:ln cap="flat" cmpd="sng" w="9525">
            <a:solidFill>
              <a:srgbClr val="DDDFE8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EEF3"/>
        </a:solidFill>
      </p:bgPr>
    </p:bg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15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F2F3F6"/>
          </a:solidFill>
          <a:ln cap="flat" cmpd="sng" w="12700">
            <a:solidFill>
              <a:srgbClr val="F2F3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15"/>
          <p:cNvSpPr/>
          <p:nvPr/>
        </p:nvSpPr>
        <p:spPr>
          <a:xfrm>
            <a:off x="365760" y="118872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BA0"/>
              </a:buClr>
              <a:buSzPts val="900"/>
              <a:buFont typeface="Trebuchet MS"/>
              <a:buNone/>
            </a:pPr>
            <a:r>
              <a:rPr b="0" i="0" lang="en-US" sz="900" u="none" cap="none" strike="noStrike">
                <a:solidFill>
                  <a:srgbClr val="888BA0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5"/>
          <p:cNvSpPr/>
          <p:nvPr/>
        </p:nvSpPr>
        <p:spPr>
          <a:xfrm>
            <a:off x="3108960" y="118872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BA0"/>
              </a:buClr>
              <a:buSzPts val="900"/>
              <a:buFont typeface="Trebuchet MS"/>
              <a:buNone/>
            </a:pPr>
            <a:r>
              <a:rPr b="0" i="0" lang="en-US" sz="900" u="none" cap="none" strike="noStrike">
                <a:solidFill>
                  <a:srgbClr val="888BA0"/>
                </a:solidFill>
                <a:latin typeface="Trebuchet MS"/>
                <a:ea typeface="Trebuchet MS"/>
                <a:cs typeface="Trebuchet MS"/>
                <a:sym typeface="Trebuchet MS"/>
              </a:rPr>
              <a:t>Prepared for 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5"/>
          <p:cNvSpPr/>
          <p:nvPr/>
        </p:nvSpPr>
        <p:spPr>
          <a:xfrm>
            <a:off x="4544568" y="82296"/>
            <a:ext cx="2560320" cy="256032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15"/>
          <p:cNvSpPr/>
          <p:nvPr/>
        </p:nvSpPr>
        <p:spPr>
          <a:xfrm>
            <a:off x="502920" y="749808"/>
            <a:ext cx="960120" cy="43891"/>
          </a:xfrm>
          <a:prstGeom prst="rect">
            <a:avLst/>
          </a:prstGeom>
          <a:solidFill>
            <a:srgbClr val="0A0F4F"/>
          </a:solidFill>
          <a:ln cap="flat" cmpd="sng" w="12700">
            <a:solidFill>
              <a:srgbClr val="0A0F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15"/>
          <p:cNvSpPr/>
          <p:nvPr/>
        </p:nvSpPr>
        <p:spPr>
          <a:xfrm>
            <a:off x="1463040" y="749808"/>
            <a:ext cx="438912" cy="43891"/>
          </a:xfrm>
          <a:prstGeom prst="rect">
            <a:avLst/>
          </a:prstGeom>
          <a:solidFill>
            <a:srgbClr val="1A2AD4"/>
          </a:solidFill>
          <a:ln cap="flat" cmpd="sng" w="12700">
            <a:solidFill>
              <a:srgbClr val="1A2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15"/>
          <p:cNvSpPr/>
          <p:nvPr/>
        </p:nvSpPr>
        <p:spPr>
          <a:xfrm>
            <a:off x="502920" y="877824"/>
            <a:ext cx="7315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E2E"/>
              </a:buClr>
              <a:buSzPts val="5600"/>
              <a:buFont typeface="Trebuchet MS"/>
              <a:buNone/>
            </a:pPr>
            <a:r>
              <a:rPr b="1" i="0" lang="en-US" sz="5600" u="none" cap="none" strike="noStrike">
                <a:solidFill>
                  <a:srgbClr val="1C1E2E"/>
                </a:solidFill>
                <a:latin typeface="Trebuchet MS"/>
                <a:ea typeface="Trebuchet MS"/>
                <a:cs typeface="Trebuchet MS"/>
                <a:sym typeface="Trebuchet MS"/>
              </a:rPr>
              <a:t>Thank you.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5"/>
          <p:cNvSpPr/>
          <p:nvPr/>
        </p:nvSpPr>
        <p:spPr>
          <a:xfrm>
            <a:off x="502920" y="2139696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F4F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0A0F4F"/>
                </a:solidFill>
                <a:latin typeface="Trebuchet MS"/>
                <a:ea typeface="Trebuchet MS"/>
                <a:cs typeface="Trebuchet MS"/>
                <a:sym typeface="Trebuchet MS"/>
              </a:rPr>
              <a:t>BLKQUARRY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5"/>
          <p:cNvSpPr/>
          <p:nvPr/>
        </p:nvSpPr>
        <p:spPr>
          <a:xfrm>
            <a:off x="502920" y="2523744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BA0"/>
              </a:buClr>
              <a:buSzPts val="1000"/>
              <a:buFont typeface="Trebuchet MS"/>
              <a:buNone/>
            </a:pPr>
            <a:r>
              <a:rPr b="0" i="0" lang="en-US" sz="1000" u="none" cap="none" strike="noStrike">
                <a:solidFill>
                  <a:srgbClr val="888BA0"/>
                </a:solidFill>
                <a:latin typeface="Trebuchet MS"/>
                <a:ea typeface="Trebuchet MS"/>
                <a:cs typeface="Trebuchet MS"/>
                <a:sym typeface="Trebuchet MS"/>
              </a:rPr>
              <a:t>corbett@blkquarry.com  ·  blkquarry.com  ·  Cape Town, South Africa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5"/>
          <p:cNvSpPr/>
          <p:nvPr/>
        </p:nvSpPr>
        <p:spPr>
          <a:xfrm>
            <a:off x="502920" y="2834640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D4"/>
              </a:buClr>
              <a:buSzPts val="900"/>
              <a:buFont typeface="Trebuchet MS"/>
              <a:buNone/>
            </a:pPr>
            <a:r>
              <a:rPr b="0" i="1" lang="en-US" sz="900" u="none" cap="none" strike="noStrike">
                <a:solidFill>
                  <a:srgbClr val="1A2AD4"/>
                </a:solidFill>
                <a:latin typeface="Trebuchet MS"/>
                <a:ea typeface="Trebuchet MS"/>
                <a:cs typeface="Trebuchet MS"/>
                <a:sym typeface="Trebuchet MS"/>
              </a:rPr>
              <a:t>Full documentation and workflow files available on request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68" name="Google Shape;56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163824"/>
            <a:ext cx="9144000" cy="1979676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15"/>
          <p:cNvSpPr/>
          <p:nvPr/>
        </p:nvSpPr>
        <p:spPr>
          <a:xfrm>
            <a:off x="0" y="3163824"/>
            <a:ext cx="9144000" cy="1979676"/>
          </a:xfrm>
          <a:prstGeom prst="rect">
            <a:avLst/>
          </a:prstGeom>
          <a:solidFill>
            <a:srgbClr val="1C1E2E">
              <a:alpha val="70196"/>
            </a:srgbClr>
          </a:solidFill>
          <a:ln cap="flat" cmpd="sng" w="12700">
            <a:solidFill>
              <a:srgbClr val="1C1E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15"/>
          <p:cNvSpPr/>
          <p:nvPr/>
        </p:nvSpPr>
        <p:spPr>
          <a:xfrm>
            <a:off x="7360920" y="4736592"/>
            <a:ext cx="1554480" cy="237744"/>
          </a:xfrm>
          <a:prstGeom prst="rect">
            <a:avLst/>
          </a:prstGeom>
          <a:solidFill>
            <a:srgbClr val="0A0F4F"/>
          </a:solidFill>
          <a:ln cap="flat" cmpd="sng" w="12700">
            <a:solidFill>
              <a:srgbClr val="0A0F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15"/>
          <p:cNvSpPr/>
          <p:nvPr/>
        </p:nvSpPr>
        <p:spPr>
          <a:xfrm>
            <a:off x="7360920" y="4736592"/>
            <a:ext cx="1554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Trebuchet MS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NDA — CONFIDENTIAL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